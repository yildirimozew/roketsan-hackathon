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60" r:id="rId3"/>
    <p:sldId id="258" r:id="rId4"/>
    <p:sldId id="273" r:id="rId5"/>
    <p:sldId id="275" r:id="rId6"/>
    <p:sldId id="274" r:id="rId7"/>
    <p:sldId id="268" r:id="rId8"/>
    <p:sldId id="262" r:id="rId9"/>
    <p:sldId id="266" r:id="rId10"/>
    <p:sldId id="272" r:id="rId11"/>
    <p:sldId id="263" r:id="rId12"/>
    <p:sldId id="291" r:id="rId13"/>
    <p:sldId id="276" r:id="rId14"/>
    <p:sldId id="277" r:id="rId15"/>
    <p:sldId id="270" r:id="rId16"/>
    <p:sldId id="278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59" r:id="rId28"/>
    <p:sldId id="261" r:id="rId29"/>
    <p:sldId id="294" r:id="rId30"/>
    <p:sldId id="267" r:id="rId3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6F0"/>
    <a:srgbClr val="04D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2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08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hackathonun iki aşamalı yapısını ve tarihleri kısaca tanıt.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aşamanın birbirini nasıl beslediğini anlat. Birinci gün tespit modeli geliştiriliyor, ikinci gün bu modeli kullanan ve karar veren agent kuruluyor.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Aşama 1 görevini anlat. 200 px² eşiğini ve dört sınıfı vurgula.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0B8-219F-2754-36A2-E5C368B1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1B847-B0B7-44BE-B2ED-A6D95A9A2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FEDBD-1BEA-3A36-B8C3-E7E8EC341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Değerlendirme kurallarını netleştir. Etiketlenmemiş küçük araçların puanı etkilemediğini, yaya ve boş alan kutularının yanlış sayıldığını mutlaka söyle.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4C992-A528-97FC-0557-7A223BB613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40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Hesap ve gönderim kurallarını tek tek geç. Toplam 10 gönderim hakkını ve final notebook paylaşımını hatırlat.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Sık sorulan soruları kısaca geç, ardından katılımcıların sorularını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Agent'ın dört adımını sırayla anlat ve hangi girdinin hangi adımda kullanıldığını göster.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73642-9A56-4BB2-2B3F-E8A6188B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DD5E4-CD0D-0AD3-6FE8-9D4FC183F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25674-59D0-5D78-2770-688977A7C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Saha raporlarının güvenilir olmadığını vurgula. Agent'ın kendi tespitine dayanması bekleniyor.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1CBD2-F0ED-31F7-74C1-4F3BE7D59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291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Teslim ve final sürecini sırayla anlat. Demo formatı serbest, ama agent'ın en az bir ya da iki görüntüde gerçekten çalıştığı görülmeli.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puanının üç bileşenini ve dört jüri kriterini açıkla.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68367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Soru-cevap boyunca bu sayfa ekranda kalsın.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2984480" y="9313069"/>
            <a:ext cx="484632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01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66800" y="1314450"/>
            <a:ext cx="209550" cy="2857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1466850" y="1200150"/>
            <a:ext cx="556961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882"/>
              </a:lnSpc>
              <a:buNone/>
            </a:pPr>
            <a:r>
              <a:rPr lang="en-US" sz="3300" b="1" kern="0" spc="-33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LEVEL-UP AI | ROKETSAN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1466850" y="1847850"/>
            <a:ext cx="173697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345"/>
              </a:lnSpc>
              <a:buNone/>
            </a:pPr>
            <a:r>
              <a:rPr lang="en-US" sz="2850" kern="0" spc="29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HACKATHONU</a:t>
            </a:r>
            <a:endParaRPr lang="en-US" sz="2850" dirty="0"/>
          </a:p>
        </p:txBody>
      </p:sp>
      <p:sp>
        <p:nvSpPr>
          <p:cNvPr id="10" name="Shape 7"/>
          <p:cNvSpPr/>
          <p:nvPr/>
        </p:nvSpPr>
        <p:spPr>
          <a:xfrm>
            <a:off x="1066800" y="2686050"/>
            <a:ext cx="16154400" cy="190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1066800" y="3038475"/>
            <a:ext cx="1564005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050"/>
              </a:lnSpc>
              <a:buNone/>
            </a:pPr>
            <a:r>
              <a:rPr lang="en-US" sz="7800" b="1" kern="0" spc="-2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BİLGİLENDİRME</a:t>
            </a:r>
            <a:endParaRPr lang="en-US" sz="7800" dirty="0"/>
          </a:p>
        </p:txBody>
      </p:sp>
      <p:sp>
        <p:nvSpPr>
          <p:cNvPr id="14" name="Text 11"/>
          <p:cNvSpPr/>
          <p:nvPr/>
        </p:nvSpPr>
        <p:spPr>
          <a:xfrm>
            <a:off x="1066799" y="4071939"/>
            <a:ext cx="146685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4050" kern="0" spc="-81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 Tespiti ve Saha Raporu Destekli LLM Agent</a:t>
            </a:r>
            <a:endParaRPr lang="en-US" sz="4050" dirty="0"/>
          </a:p>
        </p:txBody>
      </p:sp>
      <p:sp>
        <p:nvSpPr>
          <p:cNvPr id="15" name="Text 12"/>
          <p:cNvSpPr/>
          <p:nvPr/>
        </p:nvSpPr>
        <p:spPr>
          <a:xfrm>
            <a:off x="1066800" y="7615239"/>
            <a:ext cx="1260764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TARİH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66799" y="8020050"/>
            <a:ext cx="1035488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667"/>
              </a:lnSpc>
              <a:buNone/>
            </a:pPr>
            <a:r>
              <a:rPr lang="en-US" sz="1950" dirty="0">
                <a:solidFill>
                  <a:srgbClr val="E8E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Eylül Cuma · 27 Eylül Pazar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15811500" y="7410450"/>
            <a:ext cx="285750" cy="3810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16192500" y="7410450"/>
            <a:ext cx="285750" cy="381000"/>
          </a:xfrm>
          <a:prstGeom prst="rect">
            <a:avLst/>
          </a:prstGeom>
          <a:solidFill>
            <a:srgbClr val="C9A6F0">
              <a:alpha val="6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8"/>
          <p:cNvSpPr/>
          <p:nvPr/>
        </p:nvSpPr>
        <p:spPr>
          <a:xfrm>
            <a:off x="16573500" y="7410450"/>
            <a:ext cx="285750" cy="381000"/>
          </a:xfrm>
          <a:prstGeom prst="rect">
            <a:avLst/>
          </a:prstGeom>
          <a:solidFill>
            <a:srgbClr val="C9A6F0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16002000" y="990600"/>
            <a:ext cx="438150" cy="381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Shape 20"/>
          <p:cNvSpPr/>
          <p:nvPr/>
        </p:nvSpPr>
        <p:spPr>
          <a:xfrm>
            <a:off x="16497300" y="990600"/>
            <a:ext cx="209550" cy="38100"/>
          </a:xfrm>
          <a:prstGeom prst="rect">
            <a:avLst/>
          </a:prstGeom>
          <a:solidFill>
            <a:srgbClr val="C9A6F0">
              <a:alpha val="5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1"/>
          <p:cNvSpPr/>
          <p:nvPr/>
        </p:nvSpPr>
        <p:spPr>
          <a:xfrm>
            <a:off x="16764000" y="990600"/>
            <a:ext cx="95250" cy="38100"/>
          </a:xfrm>
          <a:prstGeom prst="rect">
            <a:avLst/>
          </a:prstGeom>
          <a:solidFill>
            <a:srgbClr val="C9A6F0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77630280-E93A-371A-7BA6-B2DE904A6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5544577" y="9313069"/>
            <a:ext cx="22214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02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1414463"/>
            <a:ext cx="5486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YARIŞMA AKIŞI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66800" y="2228850"/>
            <a:ext cx="7772400" cy="6191250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1457325" y="2600325"/>
            <a:ext cx="304093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AŞAMA · KAGGLE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756400" y="2600325"/>
            <a:ext cx="19020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25-26 EYLÜL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57325" y="3119438"/>
            <a:ext cx="76904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450" b="1" kern="0" spc="-6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 Tespiti</a:t>
            </a:r>
            <a:endParaRPr lang="en-US" sz="3450" dirty="0"/>
          </a:p>
        </p:txBody>
      </p:sp>
      <p:sp>
        <p:nvSpPr>
          <p:cNvPr id="14" name="Text 11"/>
          <p:cNvSpPr/>
          <p:nvPr/>
        </p:nvSpPr>
        <p:spPr>
          <a:xfrm>
            <a:off x="1457325" y="3824288"/>
            <a:ext cx="7201091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950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görüntülerindeki araçları tespit edip car, van, truck ve bus olarak sınıflandıran bir model geliştirin. Modelinizi iyileştirerek Kaggle sıralamasında üst sıralara çıkmak için yarışın.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457325" y="7726679"/>
            <a:ext cx="7201091" cy="345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Değerlendirme: mAP@0.5 · Private Leaderboard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9020175" y="5162550"/>
            <a:ext cx="247650" cy="3238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9448800" y="2228850"/>
            <a:ext cx="7772400" cy="6191250"/>
          </a:xfrm>
          <a:prstGeom prst="rect">
            <a:avLst/>
          </a:prstGeom>
          <a:solidFill>
            <a:srgbClr val="C9A6F0">
              <a:alpha val="8000"/>
            </a:srgbClr>
          </a:solidFill>
          <a:ln w="9525">
            <a:solidFill>
              <a:srgbClr val="C9A6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9839325" y="2600325"/>
            <a:ext cx="26257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AŞAMA · AJAN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839325" y="3119438"/>
            <a:ext cx="76904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3450" b="1" kern="0" spc="-6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Raporu Destekli LLM Agent</a:t>
            </a:r>
            <a:endParaRPr lang="en-US" sz="3450" dirty="0"/>
          </a:p>
        </p:txBody>
      </p:sp>
      <p:sp>
        <p:nvSpPr>
          <p:cNvPr id="29" name="Text 26"/>
          <p:cNvSpPr/>
          <p:nvPr/>
        </p:nvSpPr>
        <p:spPr>
          <a:xfrm>
            <a:off x="9839325" y="3824288"/>
            <a:ext cx="7201091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950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Tespit modelinizi kullanan bir LLM agent geliştirin. Agent, görüntüyü hareket kayıtları ve saha raporlarıyla birlikte değerlendirip durumun ne kadar kritik olduğuna karar verir ve kararını gerekçelendirir.</a:t>
            </a:r>
            <a:endParaRPr lang="en-US" sz="195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D13ABF8F-747A-377D-E0F3-58E8965119C8}"/>
              </a:ext>
            </a:extLst>
          </p:cNvPr>
          <p:cNvSpPr/>
          <p:nvPr/>
        </p:nvSpPr>
        <p:spPr>
          <a:xfrm>
            <a:off x="9839325" y="7726679"/>
            <a:ext cx="7201091" cy="345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Değerlendirme: Mentor kod incelemesi · Jüri sunumu</a:t>
            </a:r>
            <a:endParaRPr lang="en-US" sz="1875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1708A6E5-753F-7DFC-B3B4-9CB7499F0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5" name="Text 9">
            <a:extLst>
              <a:ext uri="{FF2B5EF4-FFF2-40B4-BE49-F238E27FC236}">
                <a16:creationId xmlns:a16="http://schemas.microsoft.com/office/drawing/2014/main" id="{95DBD51F-221C-480B-C5CA-B967DB5E4958}"/>
              </a:ext>
            </a:extLst>
          </p:cNvPr>
          <p:cNvSpPr/>
          <p:nvPr/>
        </p:nvSpPr>
        <p:spPr>
          <a:xfrm>
            <a:off x="15236766" y="2509838"/>
            <a:ext cx="19020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26-27 EYLÜL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03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1 · KAGGLE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66800" y="1733550"/>
            <a:ext cx="9771507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 Tespiti</a:t>
            </a:r>
            <a:endParaRPr lang="en-US" sz="5550" dirty="0"/>
          </a:p>
        </p:txBody>
      </p:sp>
      <p:sp>
        <p:nvSpPr>
          <p:cNvPr id="9" name="Shape 6"/>
          <p:cNvSpPr/>
          <p:nvPr/>
        </p:nvSpPr>
        <p:spPr>
          <a:xfrm>
            <a:off x="1066800" y="3752850"/>
            <a:ext cx="9486900" cy="190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1066800" y="4261103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1428750" y="4206240"/>
            <a:ext cx="9875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Drone görüntülerinde alanı 200 px² veya daha büyük araçları tespit edin.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66800" y="53126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428750" y="5257800"/>
            <a:ext cx="9875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Her aracı dört sınıftan birine yerleştirin: car, van, truck, bus.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66800" y="636422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1428750" y="6309360"/>
            <a:ext cx="9875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Eğitim verisinde konum ve sınıf hazır; test görüntülerini modeliniz etiketleyecek.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315700" y="1143000"/>
            <a:ext cx="64960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315700" y="1662113"/>
            <a:ext cx="5905500" cy="2125638"/>
          </a:xfrm>
          <a:prstGeom prst="rect">
            <a:avLst/>
          </a:prstGeom>
          <a:solidFill>
            <a:srgbClr val="00D1D4">
              <a:alpha val="7000"/>
            </a:srgbClr>
          </a:solidFill>
          <a:ln w="9525">
            <a:solidFill>
              <a:srgbClr val="00D1D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11649075" y="2201019"/>
            <a:ext cx="57626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b="1" kern="0" spc="-87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px²</a:t>
            </a:r>
            <a:endParaRPr lang="en-US" sz="4350" dirty="0"/>
          </a:p>
        </p:txBody>
      </p:sp>
      <p:sp>
        <p:nvSpPr>
          <p:cNvPr id="20" name="Text 17"/>
          <p:cNvSpPr/>
          <p:nvPr/>
        </p:nvSpPr>
        <p:spPr>
          <a:xfrm>
            <a:off x="11649075" y="2905869"/>
            <a:ext cx="57626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Etiketlenen en küçük araç alanı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1315700" y="3978250"/>
            <a:ext cx="5905500" cy="2125712"/>
          </a:xfrm>
          <a:prstGeom prst="rect">
            <a:avLst/>
          </a:prstGeom>
          <a:solidFill>
            <a:srgbClr val="009AFE">
              <a:alpha val="7000"/>
            </a:srgbClr>
          </a:solidFill>
          <a:ln w="9525">
            <a:solidFill>
              <a:srgbClr val="009AF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/>
          <p:nvPr/>
        </p:nvSpPr>
        <p:spPr>
          <a:xfrm>
            <a:off x="11649075" y="4517231"/>
            <a:ext cx="57626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b="1" kern="0" spc="-87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sınıf</a:t>
            </a:r>
            <a:endParaRPr lang="en-US" sz="4350" dirty="0"/>
          </a:p>
        </p:txBody>
      </p:sp>
      <p:sp>
        <p:nvSpPr>
          <p:cNvPr id="23" name="Text 20"/>
          <p:cNvSpPr/>
          <p:nvPr/>
        </p:nvSpPr>
        <p:spPr>
          <a:xfrm>
            <a:off x="11649075" y="5222081"/>
            <a:ext cx="57626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· van · truck · bus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11315700" y="6294462"/>
            <a:ext cx="5905500" cy="2125638"/>
          </a:xfrm>
          <a:prstGeom prst="rect">
            <a:avLst/>
          </a:prstGeom>
          <a:solidFill>
            <a:srgbClr val="C9A6F0">
              <a:alpha val="7000"/>
            </a:srgbClr>
          </a:solidFill>
          <a:ln w="9525">
            <a:solidFill>
              <a:srgbClr val="C9A6F0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11649075" y="6833369"/>
            <a:ext cx="57626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b="1" kern="0" spc="-87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mAP@0.5</a:t>
            </a:r>
            <a:endParaRPr lang="en-US" sz="4350" dirty="0"/>
          </a:p>
        </p:txBody>
      </p:sp>
      <p:sp>
        <p:nvSpPr>
          <p:cNvPr id="26" name="Text 23"/>
          <p:cNvSpPr/>
          <p:nvPr/>
        </p:nvSpPr>
        <p:spPr>
          <a:xfrm>
            <a:off x="11649075" y="7538219"/>
            <a:ext cx="57626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Değerlendirme metriği</a:t>
            </a:r>
            <a:endParaRPr lang="en-US" sz="1875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E938A267-5337-AAC5-5027-D2EFF6895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50" name="Shape 11"/>
          <p:cNvSpPr/>
          <p:nvPr/>
        </p:nvSpPr>
        <p:spPr>
          <a:xfrm>
            <a:off x="1066800" y="741578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Text 12"/>
          <p:cNvSpPr/>
          <p:nvPr/>
        </p:nvSpPr>
        <p:spPr>
          <a:xfrm>
            <a:off x="1428750" y="7360920"/>
            <a:ext cx="9875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İlgili tüm dosyalar Kaggle'daki yarışma sayfasında.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04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1 · VERİ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66800" y="1733550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Etiketlenmiş bir örnek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066800" y="2742854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375635-65CB-82E8-14E8-18FBB1D4BC95}"/>
              </a:ext>
            </a:extLst>
          </p:cNvPr>
          <p:cNvSpPr/>
          <p:nvPr/>
        </p:nvSpPr>
        <p:spPr>
          <a:xfrm>
            <a:off x="10640000" y="44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6C57C7-4A76-0714-18F5-136F4D2F90A3}"/>
              </a:ext>
            </a:extLst>
          </p:cNvPr>
          <p:cNvSpPr/>
          <p:nvPr/>
        </p:nvSpPr>
        <p:spPr>
          <a:xfrm>
            <a:off x="11000000" y="4400000"/>
            <a:ext cx="6200000" cy="1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Eğitim setindeki her araç için kutu (x, y, w, h) ve sınıf etiketi verilir.</a:t>
            </a:r>
            <a:endParaRPr lang="en-US" sz="2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D4237FD-1AC9-E9D7-3142-D7FC96C688AD}"/>
              </a:ext>
            </a:extLst>
          </p:cNvPr>
          <p:cNvSpPr/>
          <p:nvPr/>
        </p:nvSpPr>
        <p:spPr>
          <a:xfrm>
            <a:off x="10640000" y="57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9C5A9F-112B-6D78-4CE5-FD7DC2D79C42}"/>
              </a:ext>
            </a:extLst>
          </p:cNvPr>
          <p:cNvSpPr/>
          <p:nvPr/>
        </p:nvSpPr>
        <p:spPr>
          <a:xfrm>
            <a:off x="11000000" y="5700000"/>
            <a:ext cx="6200000" cy="1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Etiketler train/annotations.csv dosyasındadır; koordinatlar her görüntünün kendi piksel ölçülerine göredir.</a:t>
            </a:r>
            <a:endParaRPr lang="en-US" sz="2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img_orne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980000"/>
            <a:ext cx="7733333" cy="5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05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1 · VERİ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66800" y="1733550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Kaggle'daki dosyalar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066800" y="2742854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375635-65CB-82E8-14E8-18FBB1D4BC95}"/>
              </a:ext>
            </a:extLst>
          </p:cNvPr>
          <p:cNvSpPr/>
          <p:nvPr/>
        </p:nvSpPr>
        <p:spPr>
          <a:xfrm>
            <a:off x="1066800" y="70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6C57C7-4A76-0714-18F5-136F4D2F90A3}"/>
              </a:ext>
            </a:extLst>
          </p:cNvPr>
          <p:cNvSpPr/>
          <p:nvPr/>
        </p:nvSpPr>
        <p:spPr>
          <a:xfrm>
            <a:off x="1428750" y="7000000"/>
            <a:ext cx="9600000" cy="8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train: 6.471 etiketli görüntü · test: 2.118 etiketsiz görüntü</a:t>
            </a:r>
            <a:endParaRPr lang="en-US" sz="2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D4237FD-1AC9-E9D7-3142-D7FC96C688AD}"/>
              </a:ext>
            </a:extLst>
          </p:cNvPr>
          <p:cNvSpPr/>
          <p:nvPr/>
        </p:nvSpPr>
        <p:spPr>
          <a:xfrm>
            <a:off x="1066800" y="78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9C5A9F-112B-6D78-4CE5-FD7DC2D79C42}"/>
              </a:ext>
            </a:extLst>
          </p:cNvPr>
          <p:cNvSpPr/>
          <p:nvPr/>
        </p:nvSpPr>
        <p:spPr>
          <a:xfrm>
            <a:off x="1428750" y="7800000"/>
            <a:ext cx="9600000" cy="8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annotations.csv kolonları: image_id, x, y, w, h, label</a:t>
            </a:r>
            <a:endParaRPr lang="en-US" sz="2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img_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980000"/>
            <a:ext cx="3497975" cy="3600000"/>
          </a:xfrm>
          <a:prstGeom prst="rect">
            <a:avLst/>
          </a:prstGeom>
        </p:spPr>
      </p:pic>
      <p:pic>
        <p:nvPicPr>
          <p:cNvPr id="18" name="Picture 17" descr="img_ann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000" y="2980000"/>
            <a:ext cx="8600000" cy="509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06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1 · SUBMISSION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66800" y="1733550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dosyası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066800" y="2742854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375635-65CB-82E8-14E8-18FBB1D4BC95}"/>
              </a:ext>
            </a:extLst>
          </p:cNvPr>
          <p:cNvSpPr/>
          <p:nvPr/>
        </p:nvSpPr>
        <p:spPr>
          <a:xfrm>
            <a:off x="1066800" y="50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6C57C7-4A76-0714-18F5-136F4D2F90A3}"/>
              </a:ext>
            </a:extLst>
          </p:cNvPr>
          <p:cNvSpPr/>
          <p:nvPr/>
        </p:nvSpPr>
        <p:spPr>
          <a:xfrm>
            <a:off x="1428750" y="5000000"/>
            <a:ext cx="9600000" cy="11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Test setindeki her görüntü için tam bir satır; PredictionString boşlukla ayrılmış label confidence x y w h gruplarından oluşur.</a:t>
            </a:r>
            <a:endParaRPr lang="en-US" sz="2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D4237FD-1AC9-E9D7-3142-D7FC96C688AD}"/>
              </a:ext>
            </a:extLst>
          </p:cNvPr>
          <p:cNvSpPr/>
          <p:nvPr/>
        </p:nvSpPr>
        <p:spPr>
          <a:xfrm>
            <a:off x="1066800" y="63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9C5A9F-112B-6D78-4CE5-FD7DC2D79C42}"/>
              </a:ext>
            </a:extLst>
          </p:cNvPr>
          <p:cNvSpPr/>
          <p:nvPr/>
        </p:nvSpPr>
        <p:spPr>
          <a:xfrm>
            <a:off x="1428750" y="6300000"/>
            <a:ext cx="9600000" cy="11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Tahmin yoksa PredictionString alanına none yazın; hücreyi boş bırakmayın.</a:t>
            </a:r>
            <a:endParaRPr lang="en-US" sz="21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569580F-0E41-3187-4D28-013005ECF36A}"/>
              </a:ext>
            </a:extLst>
          </p:cNvPr>
          <p:cNvSpPr/>
          <p:nvPr/>
        </p:nvSpPr>
        <p:spPr>
          <a:xfrm>
            <a:off x="1066800" y="74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4B3BCB9-C156-B70E-8106-C368ACC20958}"/>
              </a:ext>
            </a:extLst>
          </p:cNvPr>
          <p:cNvSpPr/>
          <p:nvPr/>
        </p:nvSpPr>
        <p:spPr>
          <a:xfrm>
            <a:off x="1428750" y="7400000"/>
            <a:ext cx="9600000" cy="11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sample_submission.csv doğru satır kümesiyle gelir; satır eklemeyin, silmeyin.</a:t>
            </a:r>
            <a:endParaRPr lang="en-US" sz="2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6800" y="3050000"/>
            <a:ext cx="10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8EAEC"/>
                </a:solidFill>
                <a:latin typeface="Courier New"/>
              </a:rPr>
              <a:t>image_id,PredictionString</a:t>
            </a:r>
          </a:p>
          <a:p>
            <a:r>
              <a:rPr sz="1600" b="0">
                <a:solidFill>
                  <a:srgbClr val="E8EAEC"/>
                </a:solidFill>
                <a:latin typeface="Courier New"/>
              </a:rPr>
              <a:t>img_000001,car 0.93 976 533 98 95 van 0.71 1012 276 150 76</a:t>
            </a:r>
          </a:p>
          <a:p>
            <a:r>
              <a:rPr sz="1600" b="0">
                <a:solidFill>
                  <a:srgbClr val="E8EAEC"/>
                </a:solidFill>
                <a:latin typeface="Courier New"/>
              </a:rPr>
              <a:t>img_000002,none</a:t>
            </a:r>
          </a:p>
        </p:txBody>
      </p:sp>
      <p:pic>
        <p:nvPicPr>
          <p:cNvPr id="18" name="Picture 17" descr="img_s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0000" y="2980000"/>
            <a:ext cx="4636904" cy="5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07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1 · DEĞERLENDİRME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66800" y="1733550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doğru, ne yanlış sayılır?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066800" y="2742854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375635-65CB-82E8-14E8-18FBB1D4BC95}"/>
              </a:ext>
            </a:extLst>
          </p:cNvPr>
          <p:cNvSpPr/>
          <p:nvPr/>
        </p:nvSpPr>
        <p:spPr>
          <a:xfrm>
            <a:off x="1066800" y="35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6C57C7-4A76-0714-18F5-136F4D2F90A3}"/>
              </a:ext>
            </a:extLst>
          </p:cNvPr>
          <p:cNvSpPr/>
          <p:nvPr/>
        </p:nvSpPr>
        <p:spPr>
          <a:xfrm>
            <a:off x="1428750" y="3500000"/>
            <a:ext cx="146304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Doğru tahmin: sınıf doğru ve tahmin kutusu ile gerçek kutu arasındaki IoU en az 0.5.</a:t>
            </a:r>
            <a:endParaRPr lang="en-US" sz="2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D4237FD-1AC9-E9D7-3142-D7FC96C688AD}"/>
              </a:ext>
            </a:extLst>
          </p:cNvPr>
          <p:cNvSpPr/>
          <p:nvPr/>
        </p:nvSpPr>
        <p:spPr>
          <a:xfrm>
            <a:off x="1066800" y="440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9C5A9F-112B-6D78-4CE5-FD7DC2D79C42}"/>
              </a:ext>
            </a:extLst>
          </p:cNvPr>
          <p:cNvSpPr/>
          <p:nvPr/>
        </p:nvSpPr>
        <p:spPr>
          <a:xfrm>
            <a:off x="1428750" y="4350000"/>
            <a:ext cx="146304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Skor: dört sınıfın AP değerlerinin ortalaması (mAP@0.5).</a:t>
            </a:r>
            <a:endParaRPr lang="en-US" sz="21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569580F-0E41-3187-4D28-013005ECF36A}"/>
              </a:ext>
            </a:extLst>
          </p:cNvPr>
          <p:cNvSpPr/>
          <p:nvPr/>
        </p:nvSpPr>
        <p:spPr>
          <a:xfrm>
            <a:off x="1066800" y="52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4B3BCB9-C156-B70E-8106-C368ACC20958}"/>
              </a:ext>
            </a:extLst>
          </p:cNvPr>
          <p:cNvSpPr/>
          <p:nvPr/>
        </p:nvSpPr>
        <p:spPr>
          <a:xfrm>
            <a:off x="1428750" y="5200000"/>
            <a:ext cx="146304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200 px²'den küçük araçlar ile yaya ve bisiklet gibi nesneler etiketlenmedi; küçük bir aracı işaretlemek puanınızı etkilemez.</a:t>
            </a:r>
            <a:endParaRPr lang="en-US" sz="2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50" name="Shape 11">
            <a:extLst>
              <a:ext uri="{FF2B5EF4-FFF2-40B4-BE49-F238E27FC236}">
                <a16:creationId xmlns:a16="http://schemas.microsoft.com/office/drawing/2014/main" id="{8569580F-0E41-3187-4D28-013005ECF36A}"/>
              </a:ext>
            </a:extLst>
          </p:cNvPr>
          <p:cNvSpPr/>
          <p:nvPr/>
        </p:nvSpPr>
        <p:spPr>
          <a:xfrm>
            <a:off x="1066800" y="610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4B3BCB9-C156-B70E-8106-C368ACC20958}"/>
              </a:ext>
            </a:extLst>
          </p:cNvPr>
          <p:cNvSpPr/>
          <p:nvPr/>
        </p:nvSpPr>
        <p:spPr>
          <a:xfrm>
            <a:off x="1428750" y="6050000"/>
            <a:ext cx="146304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Yaya, boş alan ya da yanlış sınıf için çizilen kutu yanlış tahmin sayılır.</a:t>
            </a:r>
            <a:endParaRPr lang="en-US" sz="2100" dirty="0"/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8569580F-0E41-3187-4D28-013005ECF36A}"/>
              </a:ext>
            </a:extLst>
          </p:cNvPr>
          <p:cNvSpPr/>
          <p:nvPr/>
        </p:nvSpPr>
        <p:spPr>
          <a:xfrm>
            <a:off x="1066800" y="69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4B3BCB9-C156-B70E-8106-C368ACC20958}"/>
              </a:ext>
            </a:extLst>
          </p:cNvPr>
          <p:cNvSpPr/>
          <p:nvPr/>
        </p:nvSpPr>
        <p:spPr>
          <a:xfrm>
            <a:off x="1428750" y="6900000"/>
            <a:ext cx="146304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Düşük confidence'lı kutular göndermek zarar vermez; puanı, doğru tahminlerin daha yüksek confidence ile sıralanması belirler.</a:t>
            </a:r>
            <a:endParaRPr lang="en-US" sz="210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8569580F-0E41-3187-4D28-013005ECF36A}"/>
              </a:ext>
            </a:extLst>
          </p:cNvPr>
          <p:cNvSpPr/>
          <p:nvPr/>
        </p:nvSpPr>
        <p:spPr>
          <a:xfrm>
            <a:off x="1066800" y="780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24B3BCB9-C156-B70E-8106-C368ACC20958}"/>
              </a:ext>
            </a:extLst>
          </p:cNvPr>
          <p:cNvSpPr/>
          <p:nvPr/>
        </p:nvSpPr>
        <p:spPr>
          <a:xfrm>
            <a:off x="1428750" y="7750000"/>
            <a:ext cx="146304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Gördüğünüz skor test setinin Public bölümünden (%40) hesaplanır; final sıralamayı yarışma bitince açıklanan Private bölüm (%60) belirler.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5553506" y="9313069"/>
            <a:ext cx="22116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08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1414463"/>
            <a:ext cx="38404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1 · KURALLAR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983480" y="1143000"/>
            <a:ext cx="100584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Katılım Kuralları</a:t>
            </a:r>
            <a:endParaRPr lang="en-US" sz="4650" dirty="0"/>
          </a:p>
        </p:txBody>
      </p:sp>
      <p:sp>
        <p:nvSpPr>
          <p:cNvPr id="10" name="Shape 7"/>
          <p:cNvSpPr/>
          <p:nvPr/>
        </p:nvSpPr>
        <p:spPr>
          <a:xfrm>
            <a:off x="1066800" y="2133600"/>
            <a:ext cx="5232350" cy="1852612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1343025" y="2371725"/>
            <a:ext cx="51478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TAKIM HESABI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43025" y="2757488"/>
            <a:ext cx="514789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225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1343025" y="3424238"/>
            <a:ext cx="51478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Coderspace'e bildirilen tek hesap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6527750" y="2133600"/>
            <a:ext cx="5232425" cy="1852612"/>
          </a:xfrm>
          <a:prstGeom prst="rect">
            <a:avLst/>
          </a:prstGeom>
          <a:solidFill>
            <a:srgbClr val="009AFE">
              <a:alpha val="6000"/>
            </a:srgbClr>
          </a:solidFill>
          <a:ln w="9525">
            <a:solidFill>
              <a:srgbClr val="009AF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6803975" y="2371725"/>
            <a:ext cx="514797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GÖNDERİM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03975" y="2757488"/>
            <a:ext cx="514797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225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6803975" y="3424238"/>
            <a:ext cx="51479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Sınır her gece yenilenir</a:t>
            </a:r>
            <a:endParaRPr lang="en-US" sz="1875" dirty="0"/>
          </a:p>
        </p:txBody>
      </p:sp>
      <p:sp>
        <p:nvSpPr>
          <p:cNvPr id="18" name="Shape 15"/>
          <p:cNvSpPr/>
          <p:nvPr/>
        </p:nvSpPr>
        <p:spPr>
          <a:xfrm>
            <a:off x="11988775" y="2133600"/>
            <a:ext cx="5232350" cy="1852612"/>
          </a:xfrm>
          <a:prstGeom prst="rect">
            <a:avLst/>
          </a:prstGeom>
          <a:solidFill>
            <a:srgbClr val="C9A6F0">
              <a:alpha val="6000"/>
            </a:srgbClr>
          </a:solidFill>
          <a:ln w="9525">
            <a:solidFill>
              <a:srgbClr val="C9A6F0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12265000" y="2371725"/>
            <a:ext cx="51478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GÖNDERİM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265000" y="2757488"/>
            <a:ext cx="514789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225"/>
              </a:lnSpc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12265000" y="3424238"/>
            <a:ext cx="514789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17241"/>
              </a:lnSpc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Cuma öğlen · Cumartesi öğlen arası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1066800" y="4271963"/>
            <a:ext cx="106451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SÜREÇ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66800" y="4733925"/>
            <a:ext cx="9677400" cy="835819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/>
          <p:nvPr/>
        </p:nvSpPr>
        <p:spPr>
          <a:xfrm>
            <a:off x="1304925" y="4970859"/>
            <a:ext cx="822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cs typeface="Arial" pitchFamily="34" charset="-120"/>
              </a:rPr>
              <a:t>Kaggle aşaması Cuma öğlen başlar.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0010403" y="5008959"/>
            <a:ext cx="57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1066800" y="5684044"/>
            <a:ext cx="9677400" cy="835819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6"/>
          <p:cNvSpPr/>
          <p:nvPr/>
        </p:nvSpPr>
        <p:spPr>
          <a:xfrm>
            <a:off x="1304925" y="5920978"/>
            <a:ext cx="822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Birden fazla hesapla giriş ya da gönderim yapılamaz.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10010403" y="5959078"/>
            <a:ext cx="57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33" name="Shape 30"/>
          <p:cNvSpPr/>
          <p:nvPr/>
        </p:nvSpPr>
        <p:spPr>
          <a:xfrm>
            <a:off x="1066800" y="6634163"/>
            <a:ext cx="9677400" cy="835819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1304925" y="6871097"/>
            <a:ext cx="822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aşaması Cumartesi öğlen kapanır.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10010403" y="6909197"/>
            <a:ext cx="57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066800" y="7584281"/>
            <a:ext cx="9677400" cy="835819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6"/>
          <p:cNvSpPr/>
          <p:nvPr/>
        </p:nvSpPr>
        <p:spPr>
          <a:xfrm>
            <a:off x="1304925" y="7821216"/>
            <a:ext cx="822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notebook Coderspace ve ROKETSAN ekipleriyle paylaşılır.</a:t>
            </a:r>
            <a:endParaRPr lang="en-US" sz="1950" dirty="0"/>
          </a:p>
        </p:txBody>
      </p:sp>
      <p:sp>
        <p:nvSpPr>
          <p:cNvPr id="42" name="Text 39"/>
          <p:cNvSpPr/>
          <p:nvPr/>
        </p:nvSpPr>
        <p:spPr>
          <a:xfrm>
            <a:off x="10010403" y="7859316"/>
            <a:ext cx="57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43" name="Text 40"/>
          <p:cNvSpPr/>
          <p:nvPr/>
        </p:nvSpPr>
        <p:spPr>
          <a:xfrm>
            <a:off x="11125200" y="4271963"/>
            <a:ext cx="67056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PUANLAMA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1125200" y="4733925"/>
            <a:ext cx="6096000" cy="3686175"/>
          </a:xfrm>
          <a:prstGeom prst="rect">
            <a:avLst/>
          </a:prstGeom>
          <a:solidFill>
            <a:srgbClr val="1E1E1E"/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E44499FC-8116-6FEC-7FF6-8781599F0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60" name="Text 8"/>
          <p:cNvSpPr/>
          <p:nvPr/>
        </p:nvSpPr>
        <p:spPr>
          <a:xfrm>
            <a:off x="11430000" y="5029200"/>
            <a:ext cx="54864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LEADERBOARD</a:t>
            </a:r>
            <a:endParaRPr lang="en-US" sz="1800" dirty="0"/>
          </a:p>
        </p:txBody>
      </p:sp>
      <p:sp>
        <p:nvSpPr>
          <p:cNvPr id="61" name="Text 10"/>
          <p:cNvSpPr/>
          <p:nvPr/>
        </p:nvSpPr>
        <p:spPr>
          <a:xfrm>
            <a:off x="11430000" y="5486400"/>
            <a:ext cx="54864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Yarışma bitince oluşan Private Leaderboard skorunuz final sunum puanınıza doğrudan eklenir.</a:t>
            </a:r>
            <a:endParaRPr lang="en-US" sz="1875" dirty="0"/>
          </a:p>
        </p:txBody>
      </p:sp>
      <p:sp>
        <p:nvSpPr>
          <p:cNvPr id="62" name="Text 8"/>
          <p:cNvSpPr/>
          <p:nvPr/>
        </p:nvSpPr>
        <p:spPr>
          <a:xfrm>
            <a:off x="11430000" y="6949440"/>
            <a:ext cx="54864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 YOK</a:t>
            </a:r>
            <a:endParaRPr lang="en-US" sz="1800" dirty="0"/>
          </a:p>
        </p:txBody>
      </p:sp>
      <p:sp>
        <p:nvSpPr>
          <p:cNvPr id="63" name="Text 10"/>
          <p:cNvSpPr/>
          <p:nvPr/>
        </p:nvSpPr>
        <p:spPr>
          <a:xfrm>
            <a:off x="11430000" y="7406640"/>
            <a:ext cx="5486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sıralaması düşük olan ekipler elenmez.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5604927" y="9313069"/>
            <a:ext cx="215509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09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1414463"/>
            <a:ext cx="230169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3425949" y="1143000"/>
            <a:ext cx="109728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Sık Sorulan Sorular</a:t>
            </a:r>
            <a:endParaRPr lang="en-US" sz="4650" dirty="0"/>
          </a:p>
        </p:txBody>
      </p:sp>
      <p:sp>
        <p:nvSpPr>
          <p:cNvPr id="10" name="Shape 7"/>
          <p:cNvSpPr/>
          <p:nvPr/>
        </p:nvSpPr>
        <p:spPr>
          <a:xfrm>
            <a:off x="1066800" y="2286000"/>
            <a:ext cx="16154400" cy="190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50000">
                <a:srgbClr val="009AFE">
                  <a:alpha val="100000"/>
                </a:srgbClr>
              </a:gs>
              <a:gs pos="100000">
                <a:srgbClr val="C9A6F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1066800" y="2200275"/>
            <a:ext cx="190500" cy="190500"/>
          </a:xfrm>
          <a:prstGeom prst="rect">
            <a:avLst/>
          </a:prstGeom>
          <a:solidFill>
            <a:srgbClr val="00D1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1066800" y="2600325"/>
            <a:ext cx="5194250" cy="5172075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3" name="Text 10"/>
          <p:cNvSpPr/>
          <p:nvPr/>
        </p:nvSpPr>
        <p:spPr>
          <a:xfrm>
            <a:off x="1381125" y="2895600"/>
            <a:ext cx="50221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00D1D4"/>
                </a:solidFill>
                <a:latin typeface="Arial" pitchFamily="34" charset="0"/>
                <a:cs typeface="Arial" pitchFamily="34" charset="-120"/>
              </a:rPr>
              <a:t>SORU 01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81125" y="4800600"/>
            <a:ext cx="46634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cs typeface="Arial" pitchFamily="34" charset="-120"/>
              </a:rPr>
              <a:t>Hayır. Takım başına yalnızca Coderspace'e bildirilen tek hesap geçerli.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6546800" y="2200275"/>
            <a:ext cx="190500" cy="1905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6546800" y="2600325"/>
            <a:ext cx="5194325" cy="5172075"/>
          </a:xfrm>
          <a:prstGeom prst="rect">
            <a:avLst/>
          </a:prstGeom>
          <a:solidFill>
            <a:srgbClr val="009AFE">
              <a:alpha val="6000"/>
            </a:srgbClr>
          </a:solidFill>
          <a:ln w="9525">
            <a:solidFill>
              <a:srgbClr val="009AF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6861125" y="2895600"/>
            <a:ext cx="502224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 02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61125" y="4800600"/>
            <a:ext cx="46634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sınır 5 ve her gece yenilenir. Kaggle aşamasında toplam 10 gönderim hakkınız var; finalde bunlardan 2'sini kullanabilirsiniz.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2026875" y="2200275"/>
            <a:ext cx="190500" cy="1905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1"/>
          <p:cNvSpPr/>
          <p:nvPr/>
        </p:nvSpPr>
        <p:spPr>
          <a:xfrm>
            <a:off x="12026875" y="2600325"/>
            <a:ext cx="5194250" cy="5172075"/>
          </a:xfrm>
          <a:prstGeom prst="rect">
            <a:avLst/>
          </a:prstGeom>
          <a:solidFill>
            <a:srgbClr val="C9A6F0">
              <a:alpha val="7000"/>
            </a:srgbClr>
          </a:solidFill>
          <a:ln w="9525">
            <a:solidFill>
              <a:srgbClr val="C9A6F0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12341200" y="2895600"/>
            <a:ext cx="502216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cs typeface="Arial" pitchFamily="34" charset="-120"/>
              </a:rPr>
              <a:t>SORU 03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2344400" y="3337560"/>
            <a:ext cx="4663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9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1 skorumuz düşükse dezavantajlı mı oluruz?</a:t>
            </a:r>
            <a:endParaRPr lang="en-US" sz="2700" dirty="0"/>
          </a:p>
        </p:txBody>
      </p:sp>
      <p:sp>
        <p:nvSpPr>
          <p:cNvPr id="27" name="Text 24"/>
          <p:cNvSpPr/>
          <p:nvPr/>
        </p:nvSpPr>
        <p:spPr>
          <a:xfrm>
            <a:off x="12341200" y="4800600"/>
            <a:ext cx="46634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Leaderboard skoru final puanının belirli bir yüzdesini oluşturur, bu yüzden iyi bir skor avantaj sağlar. Sıralaması düşük ekipler elenmez.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066800" y="8096250"/>
            <a:ext cx="209550" cy="2857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7"/>
          <p:cNvSpPr/>
          <p:nvPr/>
        </p:nvSpPr>
        <p:spPr>
          <a:xfrm>
            <a:off x="1428750" y="8058150"/>
            <a:ext cx="146304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Yarışmaya ait tüm dosyalara Kaggle'daki yarışma sayfasından ulaşabilirsiniz.</a:t>
            </a:r>
            <a:endParaRPr lang="en-US" sz="195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8A996AD9-5709-B31D-6A70-6049542563A7}"/>
              </a:ext>
            </a:extLst>
          </p:cNvPr>
          <p:cNvSpPr/>
          <p:nvPr/>
        </p:nvSpPr>
        <p:spPr>
          <a:xfrm>
            <a:off x="6858000" y="3337560"/>
            <a:ext cx="4663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9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Günde kaç gönderim hakkımız var?</a:t>
            </a:r>
            <a:endParaRPr lang="en-US" sz="27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34BBB5D3-1E15-F953-31A5-6AF3615B2D47}"/>
              </a:ext>
            </a:extLst>
          </p:cNvPr>
          <p:cNvSpPr/>
          <p:nvPr/>
        </p:nvSpPr>
        <p:spPr>
          <a:xfrm>
            <a:off x="1380744" y="3337560"/>
            <a:ext cx="46634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9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Kaggle'a birden fazla hesapla katılabilir miyiz?</a:t>
            </a:r>
            <a:endParaRPr lang="en-US" sz="27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779F322A-CDBB-8D73-9416-7BADFE7A4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2 · AJAN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66800" y="1733550"/>
            <a:ext cx="9771507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Raporu Destekli LLM Agent</a:t>
            </a:r>
            <a:endParaRPr lang="en-US" sz="5550" dirty="0"/>
          </a:p>
        </p:txBody>
      </p:sp>
      <p:sp>
        <p:nvSpPr>
          <p:cNvPr id="9" name="Shape 6"/>
          <p:cNvSpPr/>
          <p:nvPr/>
        </p:nvSpPr>
        <p:spPr>
          <a:xfrm>
            <a:off x="1066800" y="3752850"/>
            <a:ext cx="9486900" cy="190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1066800" y="4261103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1428750" y="4206240"/>
            <a:ext cx="9875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Görev: bir üssü korumak; çevredeki 8 bölge drone'larla izleniyor.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66800" y="53126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428750" y="5257800"/>
            <a:ext cx="9875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Sahadaki birimlerden serbest metin gözlem raporları geliyor.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66800" y="636422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1428750" y="6309360"/>
            <a:ext cx="9875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Birinci gün geliştirdiğiniz tespit modelini kullanan bir LLM agent kuracaksınız.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315700" y="1143000"/>
            <a:ext cx="64960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ELİNİZDEKİ VERİ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315700" y="1662113"/>
            <a:ext cx="5905500" cy="2125638"/>
          </a:xfrm>
          <a:prstGeom prst="rect">
            <a:avLst/>
          </a:prstGeom>
          <a:solidFill>
            <a:srgbClr val="00D1D4">
              <a:alpha val="7000"/>
            </a:srgbClr>
          </a:solidFill>
          <a:ln w="9525">
            <a:solidFill>
              <a:srgbClr val="00D1D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11649075" y="2201019"/>
            <a:ext cx="57626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b="1" kern="0" spc="-87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bölge</a:t>
            </a:r>
            <a:endParaRPr lang="en-US" sz="4350" dirty="0"/>
          </a:p>
        </p:txBody>
      </p:sp>
      <p:sp>
        <p:nvSpPr>
          <p:cNvPr id="20" name="Text 17"/>
          <p:cNvSpPr/>
          <p:nvPr/>
        </p:nvSpPr>
        <p:spPr>
          <a:xfrm>
            <a:off x="11649075" y="2905869"/>
            <a:ext cx="57626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 boyu drone'larla izlenen alan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1315700" y="3978250"/>
            <a:ext cx="5905500" cy="2125712"/>
          </a:xfrm>
          <a:prstGeom prst="rect">
            <a:avLst/>
          </a:prstGeom>
          <a:solidFill>
            <a:srgbClr val="009AFE">
              <a:alpha val="7000"/>
            </a:srgbClr>
          </a:solidFill>
          <a:ln w="9525">
            <a:solidFill>
              <a:srgbClr val="009AF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/>
          <p:nvPr/>
        </p:nvSpPr>
        <p:spPr>
          <a:xfrm>
            <a:off x="11649075" y="4517231"/>
            <a:ext cx="57626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b="1" kern="0" spc="-87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4350" dirty="0"/>
          </a:p>
        </p:txBody>
      </p:sp>
      <p:sp>
        <p:nvSpPr>
          <p:cNvPr id="23" name="Text 20"/>
          <p:cNvSpPr/>
          <p:nvPr/>
        </p:nvSpPr>
        <p:spPr>
          <a:xfrm>
            <a:off x="11649075" y="5222081"/>
            <a:ext cx="57626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günlük drone görüntüsü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11315700" y="6294462"/>
            <a:ext cx="5905500" cy="2125638"/>
          </a:xfrm>
          <a:prstGeom prst="rect">
            <a:avLst/>
          </a:prstGeom>
          <a:solidFill>
            <a:srgbClr val="C9A6F0">
              <a:alpha val="7000"/>
            </a:srgbClr>
          </a:solidFill>
          <a:ln w="9525">
            <a:solidFill>
              <a:srgbClr val="C9A6F0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11649075" y="6833369"/>
            <a:ext cx="57626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b="1" kern="0" spc="-87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saat</a:t>
            </a:r>
            <a:endParaRPr lang="en-US" sz="4350" dirty="0"/>
          </a:p>
        </p:txBody>
      </p:sp>
      <p:sp>
        <p:nvSpPr>
          <p:cNvPr id="26" name="Text 23"/>
          <p:cNvSpPr/>
          <p:nvPr/>
        </p:nvSpPr>
        <p:spPr>
          <a:xfrm>
            <a:off x="11649075" y="7538219"/>
            <a:ext cx="57626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Araçların son hareket kayıtları</a:t>
            </a:r>
            <a:endParaRPr lang="en-US" sz="1875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E938A267-5337-AAC5-5027-D2EFF6895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50" name="Shape 11"/>
          <p:cNvSpPr/>
          <p:nvPr/>
        </p:nvSpPr>
        <p:spPr>
          <a:xfrm>
            <a:off x="1066800" y="741578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1" name="Text 12"/>
          <p:cNvSpPr/>
          <p:nvPr/>
        </p:nvSpPr>
        <p:spPr>
          <a:xfrm>
            <a:off x="1428750" y="7360920"/>
            <a:ext cx="987552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Çıktı: araçların üs için risk oluşturup oluşturmadığını açıklayan kısa bir brief.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1414463"/>
            <a:ext cx="250084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GÜN · AJAN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3606998" y="1143000"/>
            <a:ext cx="874953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Akışı</a:t>
            </a:r>
            <a:endParaRPr lang="en-US" sz="4650" dirty="0"/>
          </a:p>
        </p:txBody>
      </p:sp>
      <p:sp>
        <p:nvSpPr>
          <p:cNvPr id="10" name="Text 7"/>
          <p:cNvSpPr/>
          <p:nvPr/>
        </p:nvSpPr>
        <p:spPr>
          <a:xfrm>
            <a:off x="1066800" y="2171700"/>
            <a:ext cx="846377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GİRDİLER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66800" y="2633663"/>
            <a:ext cx="7694340" cy="1839888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1343025" y="3179713"/>
            <a:ext cx="785607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GÖRÜNTÜLERİ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43025" y="3565475"/>
            <a:ext cx="785607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bölgeden 40 görüntü</a:t>
            </a:r>
            <a:endParaRPr lang="en-US" sz="2025" dirty="0"/>
          </a:p>
        </p:txBody>
      </p:sp>
      <p:sp>
        <p:nvSpPr>
          <p:cNvPr id="14" name="Shape 11"/>
          <p:cNvSpPr/>
          <p:nvPr/>
        </p:nvSpPr>
        <p:spPr>
          <a:xfrm>
            <a:off x="1066800" y="4606900"/>
            <a:ext cx="7694340" cy="1839962"/>
          </a:xfrm>
          <a:prstGeom prst="rect">
            <a:avLst/>
          </a:prstGeom>
          <a:solidFill>
            <a:srgbClr val="009AFE">
              <a:alpha val="6000"/>
            </a:srgbClr>
          </a:solidFill>
          <a:ln w="9525">
            <a:solidFill>
              <a:srgbClr val="009AF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1343025" y="5153025"/>
            <a:ext cx="785607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HAREKET KAYITLARI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43025" y="5538788"/>
            <a:ext cx="785607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Araçların son iki saatlik hareket verisi</a:t>
            </a:r>
            <a:endParaRPr lang="en-US" sz="2025" dirty="0"/>
          </a:p>
        </p:txBody>
      </p:sp>
      <p:sp>
        <p:nvSpPr>
          <p:cNvPr id="17" name="Shape 14"/>
          <p:cNvSpPr/>
          <p:nvPr/>
        </p:nvSpPr>
        <p:spPr>
          <a:xfrm>
            <a:off x="1066800" y="6580212"/>
            <a:ext cx="7694340" cy="1839888"/>
          </a:xfrm>
          <a:prstGeom prst="rect">
            <a:avLst/>
          </a:prstGeom>
          <a:solidFill>
            <a:srgbClr val="C9A6F0">
              <a:alpha val="7000"/>
            </a:srgbClr>
          </a:solidFill>
          <a:ln w="9525">
            <a:solidFill>
              <a:srgbClr val="C9A6F0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1343025" y="7126263"/>
            <a:ext cx="785607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RAPORLARI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43025" y="7512025"/>
            <a:ext cx="785607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Serbest metin gözlem raporları</a:t>
            </a:r>
            <a:endParaRPr lang="en-US" sz="2025" dirty="0"/>
          </a:p>
        </p:txBody>
      </p:sp>
      <p:sp>
        <p:nvSpPr>
          <p:cNvPr id="20" name="Text 17"/>
          <p:cNvSpPr/>
          <p:nvPr/>
        </p:nvSpPr>
        <p:spPr>
          <a:xfrm>
            <a:off x="9142140" y="2171700"/>
            <a:ext cx="88868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AKIŞI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142140" y="2633663"/>
            <a:ext cx="8078986" cy="1360884"/>
          </a:xfrm>
          <a:prstGeom prst="rect">
            <a:avLst/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19"/>
          <p:cNvSpPr/>
          <p:nvPr/>
        </p:nvSpPr>
        <p:spPr>
          <a:xfrm>
            <a:off x="9418365" y="3037880"/>
            <a:ext cx="552450" cy="552450"/>
          </a:xfrm>
          <a:prstGeom prst="rect">
            <a:avLst/>
          </a:prstGeom>
          <a:ln w="9525">
            <a:solidFill>
              <a:srgbClr val="00D1D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9389790" y="304740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0161315" y="2961680"/>
            <a:ext cx="74619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23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Tespit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0161315" y="3342680"/>
            <a:ext cx="746194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Görseldeki araçları doğru biçimde tespit etmek</a:t>
            </a:r>
            <a:endParaRPr lang="en-US" sz="1875" dirty="0"/>
          </a:p>
        </p:txBody>
      </p:sp>
      <p:sp>
        <p:nvSpPr>
          <p:cNvPr id="26" name="Shape 23"/>
          <p:cNvSpPr/>
          <p:nvPr/>
        </p:nvSpPr>
        <p:spPr>
          <a:xfrm>
            <a:off x="9142140" y="4108847"/>
            <a:ext cx="8078986" cy="1360884"/>
          </a:xfrm>
          <a:prstGeom prst="rect">
            <a:avLst/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4"/>
          <p:cNvSpPr/>
          <p:nvPr/>
        </p:nvSpPr>
        <p:spPr>
          <a:xfrm>
            <a:off x="9418365" y="4513064"/>
            <a:ext cx="552450" cy="552450"/>
          </a:xfrm>
          <a:prstGeom prst="rect">
            <a:avLst/>
          </a:prstGeom>
          <a:ln w="9525">
            <a:solidFill>
              <a:srgbClr val="009AF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5"/>
          <p:cNvSpPr/>
          <p:nvPr/>
        </p:nvSpPr>
        <p:spPr>
          <a:xfrm>
            <a:off x="9389790" y="452258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0161315" y="4436864"/>
            <a:ext cx="74619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23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Konumlandırma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0161315" y="4817864"/>
            <a:ext cx="746194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Piksel konumlarını harita bilgisiyle gerçek koordinatlara çevirmek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9142140" y="5584031"/>
            <a:ext cx="8078986" cy="1360884"/>
          </a:xfrm>
          <a:prstGeom prst="rect">
            <a:avLst/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29"/>
          <p:cNvSpPr/>
          <p:nvPr/>
        </p:nvSpPr>
        <p:spPr>
          <a:xfrm>
            <a:off x="9418365" y="5988248"/>
            <a:ext cx="552450" cy="552450"/>
          </a:xfrm>
          <a:prstGeom prst="rect">
            <a:avLst/>
          </a:prstGeom>
          <a:ln w="9525">
            <a:solidFill>
              <a:srgbClr val="C9A6F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0"/>
          <p:cNvSpPr/>
          <p:nvPr/>
        </p:nvSpPr>
        <p:spPr>
          <a:xfrm>
            <a:off x="9389790" y="599777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0161315" y="5912048"/>
            <a:ext cx="74619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23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Hareket analizi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10161315" y="6293048"/>
            <a:ext cx="746194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iki saatteki hız, yön ve rotayı hareket verisinden çıkarmak</a:t>
            </a:r>
            <a:endParaRPr lang="en-US" sz="1875" dirty="0"/>
          </a:p>
        </p:txBody>
      </p:sp>
      <p:sp>
        <p:nvSpPr>
          <p:cNvPr id="36" name="Shape 33"/>
          <p:cNvSpPr/>
          <p:nvPr/>
        </p:nvSpPr>
        <p:spPr>
          <a:xfrm>
            <a:off x="9142140" y="7059216"/>
            <a:ext cx="8078986" cy="1360884"/>
          </a:xfrm>
          <a:prstGeom prst="rect">
            <a:avLst/>
          </a:prstGeom>
          <a:solidFill>
            <a:srgbClr val="C9A6F0">
              <a:alpha val="8000"/>
            </a:srgbClr>
          </a:solidFill>
          <a:ln w="9525">
            <a:solidFill>
              <a:srgbClr val="C9A6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4"/>
          <p:cNvSpPr/>
          <p:nvPr/>
        </p:nvSpPr>
        <p:spPr>
          <a:xfrm>
            <a:off x="9418365" y="7463433"/>
            <a:ext cx="552450" cy="552450"/>
          </a:xfrm>
          <a:prstGeom prst="rect">
            <a:avLst/>
          </a:prstGeom>
          <a:ln w="9525">
            <a:solidFill>
              <a:srgbClr val="C9A6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5"/>
          <p:cNvSpPr/>
          <p:nvPr/>
        </p:nvSpPr>
        <p:spPr>
          <a:xfrm>
            <a:off x="9389790" y="747295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39" name="Text 36"/>
          <p:cNvSpPr/>
          <p:nvPr/>
        </p:nvSpPr>
        <p:spPr>
          <a:xfrm>
            <a:off x="10161315" y="7387233"/>
            <a:ext cx="746194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923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analizi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10161315" y="7768233"/>
            <a:ext cx="746194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241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Bulguları saha raporlarıyla değerlendirip gerekçeli brief üretmek</a:t>
            </a:r>
            <a:endParaRPr lang="en-US" sz="1875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B514F59A-9247-CD41-70F0-A4805C0B3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12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2 · AJAN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66800" y="1733550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kredisi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066800" y="2742854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375635-65CB-82E8-14E8-18FBB1D4BC95}"/>
              </a:ext>
            </a:extLst>
          </p:cNvPr>
          <p:cNvSpPr/>
          <p:nvPr/>
        </p:nvSpPr>
        <p:spPr>
          <a:xfrm>
            <a:off x="1066800" y="39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6C57C7-4A76-0714-18F5-136F4D2F90A3}"/>
              </a:ext>
            </a:extLst>
          </p:cNvPr>
          <p:cNvSpPr/>
          <p:nvPr/>
        </p:nvSpPr>
        <p:spPr>
          <a:xfrm>
            <a:off x="1428750" y="3900000"/>
            <a:ext cx="146304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Her takıma, agent'ınızın LLM çağrıları için 15 $ GLM API kredisi veriyoruz.</a:t>
            </a:r>
            <a:endParaRPr lang="en-US" sz="2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D4237FD-1AC9-E9D7-3142-D7FC96C688AD}"/>
              </a:ext>
            </a:extLst>
          </p:cNvPr>
          <p:cNvSpPr/>
          <p:nvPr/>
        </p:nvSpPr>
        <p:spPr>
          <a:xfrm>
            <a:off x="1066800" y="51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9C5A9F-112B-6D78-4CE5-FD7DC2D79C42}"/>
              </a:ext>
            </a:extLst>
          </p:cNvPr>
          <p:cNvSpPr/>
          <p:nvPr/>
        </p:nvSpPr>
        <p:spPr>
          <a:xfrm>
            <a:off x="1428750" y="5100000"/>
            <a:ext cx="146304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API anahtarları ve bağlantı detayları 2. aşamaya geçildiğinde dağıtılacak.</a:t>
            </a:r>
            <a:endParaRPr lang="en-US" sz="21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569580F-0E41-3187-4D28-013005ECF36A}"/>
              </a:ext>
            </a:extLst>
          </p:cNvPr>
          <p:cNvSpPr/>
          <p:nvPr/>
        </p:nvSpPr>
        <p:spPr>
          <a:xfrm>
            <a:off x="1066800" y="63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4B3BCB9-C156-B70E-8106-C368ACC20958}"/>
              </a:ext>
            </a:extLst>
          </p:cNvPr>
          <p:cNvSpPr/>
          <p:nvPr/>
        </p:nvSpPr>
        <p:spPr>
          <a:xfrm>
            <a:off x="1428750" y="6300000"/>
            <a:ext cx="146304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077"/>
              </a:lnSpc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Bu aşamayla ilgili daha ayrıntılı bilgiyi de 2. aşamaya geçtiğimiz gün paylaşacağız.</a:t>
            </a:r>
            <a:endParaRPr lang="en-US" sz="2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13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2 · VERİ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66800" y="1733550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image_meta.json ve zones.json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066800" y="2742854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375635-65CB-82E8-14E8-18FBB1D4BC95}"/>
              </a:ext>
            </a:extLst>
          </p:cNvPr>
          <p:cNvSpPr/>
          <p:nvPr/>
        </p:nvSpPr>
        <p:spPr>
          <a:xfrm>
            <a:off x="1066800" y="810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6C57C7-4A76-0714-18F5-136F4D2F90A3}"/>
              </a:ext>
            </a:extLst>
          </p:cNvPr>
          <p:cNvSpPr/>
          <p:nvPr/>
        </p:nvSpPr>
        <p:spPr>
          <a:xfrm>
            <a:off x="1428750" y="8050000"/>
            <a:ext cx="146304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Köşe koordinatları, pikselleri gerçek koordinata çevirmenizi sağlar; raporlardaki bölge adlarını zones.json'da bulursunuz.</a:t>
            </a:r>
            <a:endParaRPr lang="en-US" sz="2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6800" y="3000000"/>
            <a:ext cx="7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B8C5"/>
                </a:solidFill>
                <a:latin typeface="Courier New"/>
              </a:rPr>
              <a:t>image_meta.json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3500000"/>
            <a:ext cx="7600000" cy="4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E8EAEC"/>
                </a:solidFill>
                <a:latin typeface="Courier New"/>
              </a:rPr>
              <a:t>"img_000860": {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"width_px": 960,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"height_px": 540,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"capture_time": "14:10",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"corner_coordinates": {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"top_left":     [39.925651, 32.870729],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"top_right":    [39.925651, 32.872131],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"bottom_left":  [39.925045, 32.870729],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"bottom_right": [39.925045, 32.872131]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}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0000" y="3000000"/>
            <a:ext cx="7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B8C5"/>
                </a:solidFill>
                <a:latin typeface="Courier New"/>
              </a:rPr>
              <a:t>zones.json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0000" y="3500000"/>
            <a:ext cx="7600000" cy="4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E8EAEC"/>
                </a:solidFill>
                <a:latin typeface="Courier New"/>
              </a:rPr>
              <a:t>{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"base":  {"name": "Merkez Us",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        "lat": 39.92184, "lon": 32.85306},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"zones": [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{"name": "Kuzey Yolu",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 "center": [39.950586, 32.853060]},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{"name": "Dogu Yolu",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 "center": [39.921840, 32.890542]},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...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]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14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2 · VERİ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66800" y="1733550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tracks.csv ve field_reports.json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066800" y="2742854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375635-65CB-82E8-14E8-18FBB1D4BC95}"/>
              </a:ext>
            </a:extLst>
          </p:cNvPr>
          <p:cNvSpPr/>
          <p:nvPr/>
        </p:nvSpPr>
        <p:spPr>
          <a:xfrm>
            <a:off x="1066800" y="810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6C57C7-4A76-0714-18F5-136F4D2F90A3}"/>
              </a:ext>
            </a:extLst>
          </p:cNvPr>
          <p:cNvSpPr/>
          <p:nvPr/>
        </p:nvSpPr>
        <p:spPr>
          <a:xfrm>
            <a:off x="1428750" y="8050000"/>
            <a:ext cx="14630400" cy="7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Kayıtlar ve raporlar tek havuzdur; hangi görüntüyle ilgili oldukları verilmez. Bağlamı çekim saati ve köşe koordinatlarıyla siz kurarsınız.</a:t>
            </a:r>
            <a:endParaRPr lang="en-US" sz="2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6800" y="3000000"/>
            <a:ext cx="7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B8C5"/>
                </a:solidFill>
                <a:latin typeface="Courier New"/>
              </a:rPr>
              <a:t>tracks.csv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3500000"/>
            <a:ext cx="7600000" cy="4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E8EAEC"/>
                </a:solidFill>
                <a:latin typeface="Courier New"/>
              </a:rPr>
              <a:t>track_id,time,lat,lon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T0001,10:15,39.988691,32.880750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T0001,10:20,39.978233,32.885015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T0001,10:25,39.978232,32.884969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T0001,10:30,39.978288,32.885002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...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Her track_id: bir aracın son 2 saati,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5 dakikalik adimlarla.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0000" y="3000000"/>
            <a:ext cx="7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B8C5"/>
                </a:solidFill>
                <a:latin typeface="Courier New"/>
              </a:rPr>
              <a:t>field_reports.json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0000" y="3500000"/>
            <a:ext cx="7600000" cy="4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E8EAEC"/>
                </a:solidFill>
                <a:latin typeface="Courier New"/>
              </a:rPr>
              <a:t>{"time": "13:05", "source": "official",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"text": "39.9374N 32.8483E civarinda 1 kamyon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      goruldu, yukleri tespit edilemedi."},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{"time": "11:55", "source": "third_party",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"text": "Planli tatbikat nedeniyle gun icinde</a:t>
            </a:r>
          </a:p>
          <a:p>
            <a:r>
              <a:rPr sz="1300" b="0">
                <a:solidFill>
                  <a:srgbClr val="E8EAEC"/>
                </a:solidFill>
                <a:latin typeface="Courier New"/>
              </a:rPr>
              <a:t>          bolgede dost unsurlar bulunacak."}</a:t>
            </a:r>
          </a:p>
        </p:txBody>
      </p:sp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47575-5829-4CD1-B253-28A4965E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EB034D-52CB-DD5C-C5D0-C385C0249743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8B5D33-CC13-9D93-727B-EA713C58520D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A2FBD9-F9F1-F782-C0DC-2725B049D123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DBE2645-D42A-7AD3-CCD1-D7451576A481}"/>
              </a:ext>
            </a:extLst>
          </p:cNvPr>
          <p:cNvSpPr/>
          <p:nvPr/>
        </p:nvSpPr>
        <p:spPr>
          <a:xfrm>
            <a:off x="15544577" y="9313069"/>
            <a:ext cx="22214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15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8A4FC08-68FA-2673-26F6-AE9F180EEEE2}"/>
              </a:ext>
            </a:extLst>
          </p:cNvPr>
          <p:cNvSpPr/>
          <p:nvPr/>
        </p:nvSpPr>
        <p:spPr>
          <a:xfrm>
            <a:off x="1066800" y="1414463"/>
            <a:ext cx="20297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DİKKAT</a:t>
            </a:r>
            <a:endParaRPr lang="en-US" sz="19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5EF0D4B-4736-F8BD-75F8-205460652151}"/>
              </a:ext>
            </a:extLst>
          </p:cNvPr>
          <p:cNvSpPr/>
          <p:nvPr/>
        </p:nvSpPr>
        <p:spPr>
          <a:xfrm>
            <a:off x="1066799" y="2228850"/>
            <a:ext cx="15763875" cy="6191250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2F84CCD-31EC-F15E-2768-8136EDD75C8F}"/>
              </a:ext>
            </a:extLst>
          </p:cNvPr>
          <p:cNvSpPr/>
          <p:nvPr/>
        </p:nvSpPr>
        <p:spPr>
          <a:xfrm>
            <a:off x="1457325" y="2600325"/>
            <a:ext cx="7315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00D1D4"/>
                </a:solidFill>
                <a:latin typeface="Arial" pitchFamily="34" charset="0"/>
                <a:cs typeface="Arial" pitchFamily="34" charset="-120"/>
              </a:rPr>
              <a:t>SAHA RAPORLARI</a:t>
            </a:r>
            <a:endParaRPr lang="en-US" sz="18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85EF646-E9D1-F0FF-B663-4FFE0EBF0061}"/>
              </a:ext>
            </a:extLst>
          </p:cNvPr>
          <p:cNvSpPr/>
          <p:nvPr/>
        </p:nvSpPr>
        <p:spPr>
          <a:xfrm>
            <a:off x="1457325" y="3119438"/>
            <a:ext cx="14630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67"/>
              </a:lnSpc>
              <a:buNone/>
            </a:pPr>
            <a:r>
              <a:rPr lang="en-US" sz="4400" b="1" kern="0" spc="-6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Raporların tamamı doğru değil.</a:t>
            </a:r>
            <a:endParaRPr lang="en-US" sz="44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362E3A4-9061-6D16-CE41-23F0689A11DA}"/>
              </a:ext>
            </a:extLst>
          </p:cNvPr>
          <p:cNvSpPr/>
          <p:nvPr/>
        </p:nvSpPr>
        <p:spPr>
          <a:xfrm>
            <a:off x="1457325" y="4297680"/>
            <a:ext cx="14447520" cy="1645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400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Bazı raporlar kasıtlı ya da yanlışlıkla hatalı, bazıları ise konuyla ilgisiz olabilir. Agent'ınızın raporları olduğu gibi kabul etmek yerine kendi tespitine güvenmesi bekleniyor.</a:t>
            </a:r>
            <a:endParaRPr lang="en-US" sz="24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2CAD6219-EA00-EC49-45A9-D46608FEC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60" name="Text 8">
            <a:extLst>
              <a:ext uri="{FF2B5EF4-FFF2-40B4-BE49-F238E27FC236}">
                <a16:creationId xmlns:a16="http://schemas.microsoft.com/office/drawing/2014/main" id="{B2F84CCD-31EC-F15E-2768-8136EDD75C8F}"/>
              </a:ext>
            </a:extLst>
          </p:cNvPr>
          <p:cNvSpPr/>
          <p:nvPr/>
        </p:nvSpPr>
        <p:spPr>
          <a:xfrm>
            <a:off x="1457325" y="6583680"/>
            <a:ext cx="73152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kern="0" spc="324" dirty="0">
                <a:solidFill>
                  <a:srgbClr val="00D1D4"/>
                </a:solidFill>
                <a:latin typeface="Arial" pitchFamily="34" charset="0"/>
                <a:cs typeface="Arial" pitchFamily="34" charset="-120"/>
              </a:rPr>
              <a:t>BEKLENEN YAKLAŞIM</a:t>
            </a:r>
            <a:endParaRPr lang="en-US" sz="1800" dirty="0"/>
          </a:p>
        </p:txBody>
      </p:sp>
      <p:sp>
        <p:nvSpPr>
          <p:cNvPr id="61" name="Text 11">
            <a:extLst>
              <a:ext uri="{FF2B5EF4-FFF2-40B4-BE49-F238E27FC236}">
                <a16:creationId xmlns:a16="http://schemas.microsoft.com/office/drawing/2014/main" id="{6362E3A4-9061-6D16-CE41-23F0689A11DA}"/>
              </a:ext>
            </a:extLst>
          </p:cNvPr>
          <p:cNvSpPr/>
          <p:nvPr/>
        </p:nvSpPr>
        <p:spPr>
          <a:xfrm>
            <a:off x="1457325" y="7040880"/>
            <a:ext cx="1444752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2400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kendi tespitinize ve hareket verisine dayanın; raporları bu bulgularla karşılaştırarak değerlendirin.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0855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16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2 · KAYNAKLAR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66800" y="1733550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örnek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066800" y="2742854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375635-65CB-82E8-14E8-18FBB1D4BC95}"/>
              </a:ext>
            </a:extLst>
          </p:cNvPr>
          <p:cNvSpPr/>
          <p:nvPr/>
        </p:nvSpPr>
        <p:spPr>
          <a:xfrm>
            <a:off x="12190000" y="3354864"/>
            <a:ext cx="171450" cy="22860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6C57C7-4A76-0714-18F5-136F4D2F90A3}"/>
              </a:ext>
            </a:extLst>
          </p:cNvPr>
          <p:cNvSpPr/>
          <p:nvPr/>
        </p:nvSpPr>
        <p:spPr>
          <a:xfrm>
            <a:off x="12550000" y="3300000"/>
            <a:ext cx="4700000" cy="1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77"/>
              </a:lnSpc>
              <a:buNone/>
            </a:pPr>
            <a:r>
              <a:rPr lang="en-US" sz="2100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Uçtan uca örnek: agent'ın tüm adımları, gerçek bir kare üzerinde.</a:t>
            </a:r>
            <a:endParaRPr lang="en-US" sz="21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190000" y="4300000"/>
            <a:ext cx="53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B8BEC4"/>
                </a:solidFill>
                <a:latin typeface="Courier New"/>
              </a:rPr>
              <a:t>claude.ai/artifact/</a:t>
            </a:r>
          </a:p>
          <a:p>
            <a:r>
              <a:rPr sz="1200" b="0">
                <a:solidFill>
                  <a:srgbClr val="B8BEC4"/>
                </a:solidFill>
                <a:latin typeface="Courier New"/>
              </a:rPr>
              <a:t>  WPuR3WDVPV2va8z8piWYzJ</a:t>
            </a:r>
          </a:p>
        </p:txBody>
      </p:sp>
      <p:pic>
        <p:nvPicPr>
          <p:cNvPr id="19" name="Picture 18" descr="img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3050000"/>
            <a:ext cx="10700000" cy="550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17</a:t>
            </a:r>
            <a:endParaRPr lang="en-US" sz="1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00" y="480000"/>
            <a:ext cx="15340000" cy="7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18</a:t>
            </a:r>
            <a:endParaRPr lang="en-US" sz="1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00" y="480000"/>
            <a:ext cx="15340000" cy="7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19</a:t>
            </a:r>
            <a:endParaRPr lang="en-US" sz="1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00" y="480000"/>
            <a:ext cx="15340000" cy="7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20</a:t>
            </a:r>
            <a:endParaRPr lang="en-US" sz="1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ste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00" y="480000"/>
            <a:ext cx="15340000" cy="7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21</a:t>
            </a:r>
            <a:endParaRPr lang="en-US" sz="1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st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00" y="480000"/>
            <a:ext cx="15340000" cy="7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22</a:t>
            </a:r>
            <a:endParaRPr lang="en-US" sz="1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ste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00" y="480000"/>
            <a:ext cx="15340000" cy="7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23</a:t>
            </a:r>
            <a:endParaRPr lang="en-US" sz="1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ste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00" y="480000"/>
            <a:ext cx="15340000" cy="7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24</a:t>
            </a:r>
            <a:endParaRPr lang="en-US" sz="1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step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00" y="480000"/>
            <a:ext cx="15340000" cy="7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25</a:t>
            </a:r>
            <a:endParaRPr lang="en-US" sz="180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pic>
        <p:nvPicPr>
          <p:cNvPr id="17" name="Picture 16" descr="step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00" y="480000"/>
            <a:ext cx="15340000" cy="78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26</a:t>
            </a: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AŞAMA 2 · KAYNAKLAR</a:t>
            </a:r>
            <a:endParaRPr lang="en-US" sz="19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66800" y="1733550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76"/>
              </a:lnSpc>
              <a:buNone/>
            </a:pPr>
            <a:r>
              <a:rPr lang="en-US" sz="5550" b="1" kern="0" spc="-166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haritası</a:t>
            </a:r>
            <a:endParaRPr lang="en-US" sz="5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066800" y="2742854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550000" y="3300000"/>
            <a:ext cx="53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AEC"/>
                </a:solidFill>
                <a:latin typeface="Courier New"/>
              </a:rPr>
              <a:t>3B saha haritası:</a:t>
            </a:r>
          </a:p>
          <a:p>
            <a:r>
              <a:rPr sz="1400">
                <a:solidFill>
                  <a:srgbClr val="E8EAEC"/>
                </a:solidFill>
                <a:latin typeface="Courier New"/>
              </a:rPr>
              <a:t>kareler, hareket kayıtları</a:t>
            </a:r>
          </a:p>
          <a:p>
            <a:r>
              <a:rPr sz="1400">
                <a:solidFill>
                  <a:srgbClr val="E8EAEC"/>
                </a:solidFill>
                <a:latin typeface="Courier New"/>
              </a:rPr>
              <a:t>ve rapor akışı bir arada.</a:t>
            </a:r>
          </a:p>
          <a:p>
            <a:r>
              <a:rPr sz="1400">
                <a:solidFill>
                  <a:srgbClr val="E8EAEC"/>
                </a:solidFill>
                <a:latin typeface="Courier New"/>
              </a:rPr>
              <a:t> </a:t>
            </a:r>
          </a:p>
          <a:p>
            <a:r>
              <a:rPr sz="1400">
                <a:solidFill>
                  <a:srgbClr val="E8EAEC"/>
                </a:solidFill>
                <a:latin typeface="Courier New"/>
              </a:rPr>
              <a:t>Zamanı oynatın, kareye</a:t>
            </a:r>
          </a:p>
          <a:p>
            <a:r>
              <a:rPr sz="1400">
                <a:solidFill>
                  <a:srgbClr val="E8EAEC"/>
                </a:solidFill>
                <a:latin typeface="Courier New"/>
              </a:rPr>
              <a:t>tıklayıp fotoğrafı açın.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50000" y="5900000"/>
            <a:ext cx="53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8BEC4"/>
                </a:solidFill>
                <a:latin typeface="Courier New"/>
              </a:rPr>
              <a:t>claude.ai/artifact/</a:t>
            </a:r>
          </a:p>
          <a:p>
            <a:r>
              <a:rPr sz="1200">
                <a:solidFill>
                  <a:srgbClr val="B8BEC4"/>
                </a:solidFill>
                <a:latin typeface="Courier New"/>
              </a:rPr>
              <a:t>  RDA7jxgLaG2wEgZ7GtSeLR</a:t>
            </a:r>
          </a:p>
        </p:txBody>
      </p:sp>
      <p:pic>
        <p:nvPicPr>
          <p:cNvPr id="19" name="Picture 18" descr="harit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050000"/>
            <a:ext cx="10800000" cy="55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5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5540261" y="9313069"/>
            <a:ext cx="222622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27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1414463"/>
            <a:ext cx="4572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FİNAL SÜRECİ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66800" y="2190750"/>
            <a:ext cx="450532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ADIMLAR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66800" y="2671763"/>
            <a:ext cx="4095750" cy="1337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1066800" y="2671763"/>
            <a:ext cx="28575" cy="1337072"/>
          </a:xfrm>
          <a:prstGeom prst="rect">
            <a:avLst/>
          </a:prstGeom>
          <a:solidFill>
            <a:srgbClr val="00D1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1343025" y="3159323"/>
            <a:ext cx="31089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teslimi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4575870" y="3164086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066800" y="4142184"/>
            <a:ext cx="4095750" cy="1337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3"/>
          <p:cNvSpPr/>
          <p:nvPr/>
        </p:nvSpPr>
        <p:spPr>
          <a:xfrm>
            <a:off x="1066800" y="4142184"/>
            <a:ext cx="28575" cy="1337072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1343025" y="4629745"/>
            <a:ext cx="31089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Sunum dosyası teslimi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4575870" y="4634508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066800" y="5612606"/>
            <a:ext cx="4095750" cy="1337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1066800" y="5612606"/>
            <a:ext cx="28575" cy="1337072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1343025" y="6100167"/>
            <a:ext cx="31089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kod oturumu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4575870" y="6104930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066800" y="7083028"/>
            <a:ext cx="4095750" cy="133707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Shape 21"/>
          <p:cNvSpPr/>
          <p:nvPr/>
        </p:nvSpPr>
        <p:spPr>
          <a:xfrm>
            <a:off x="1066800" y="7083028"/>
            <a:ext cx="28575" cy="1337072"/>
          </a:xfrm>
          <a:prstGeom prst="rect">
            <a:avLst/>
          </a:prstGeom>
          <a:solidFill>
            <a:srgbClr val="8C8C9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1343025" y="7570589"/>
            <a:ext cx="31089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2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Jüri sunumu ve demo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4575870" y="7575352"/>
            <a:ext cx="4152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5581650" y="2190750"/>
            <a:ext cx="128035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DETAYLAR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581650" y="2671763"/>
            <a:ext cx="5724525" cy="2969419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6"/>
          <p:cNvSpPr/>
          <p:nvPr/>
        </p:nvSpPr>
        <p:spPr>
          <a:xfrm>
            <a:off x="5895975" y="2947988"/>
            <a:ext cx="56054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895975" y="3390900"/>
            <a:ext cx="56054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kalite ve mimari</a:t>
            </a:r>
            <a:endParaRPr lang="en-US" sz="2550" dirty="0"/>
          </a:p>
        </p:txBody>
      </p:sp>
      <p:sp>
        <p:nvSpPr>
          <p:cNvPr id="31" name="Text 28"/>
          <p:cNvSpPr/>
          <p:nvPr/>
        </p:nvSpPr>
        <p:spPr>
          <a:xfrm>
            <a:off x="5895975" y="3924300"/>
            <a:ext cx="507492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Kodlarınız mentorlarla kod değerlendirme oturumunda incelenir. Mentor puanı final puanınızın belli bir yüzdesini oluşturur.</a:t>
            </a:r>
            <a:endParaRPr lang="en-US" sz="1875" dirty="0"/>
          </a:p>
        </p:txBody>
      </p:sp>
      <p:sp>
        <p:nvSpPr>
          <p:cNvPr id="32" name="Shape 29"/>
          <p:cNvSpPr/>
          <p:nvPr/>
        </p:nvSpPr>
        <p:spPr>
          <a:xfrm>
            <a:off x="11496675" y="2671763"/>
            <a:ext cx="5724525" cy="2969419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0"/>
          <p:cNvSpPr/>
          <p:nvPr/>
        </p:nvSpPr>
        <p:spPr>
          <a:xfrm>
            <a:off x="11811000" y="2947988"/>
            <a:ext cx="560546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JÜRİ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1811000" y="3390900"/>
            <a:ext cx="56054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sunumu</a:t>
            </a:r>
            <a:endParaRPr lang="en-US" sz="2550" dirty="0"/>
          </a:p>
        </p:txBody>
      </p:sp>
      <p:sp>
        <p:nvSpPr>
          <p:cNvPr id="35" name="Text 32"/>
          <p:cNvSpPr/>
          <p:nvPr/>
        </p:nvSpPr>
        <p:spPr>
          <a:xfrm>
            <a:off x="11811000" y="3924300"/>
            <a:ext cx="507492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Çalışmanızı sunumunuzla jüriye aktarırsınız. Jüri, final puanınızı dört başlık üzerinden belirler.</a:t>
            </a:r>
            <a:endParaRPr lang="en-US" sz="1875" dirty="0"/>
          </a:p>
        </p:txBody>
      </p:sp>
      <p:sp>
        <p:nvSpPr>
          <p:cNvPr id="36" name="Shape 33"/>
          <p:cNvSpPr/>
          <p:nvPr/>
        </p:nvSpPr>
        <p:spPr>
          <a:xfrm>
            <a:off x="5581650" y="5831681"/>
            <a:ext cx="11639550" cy="2588419"/>
          </a:xfrm>
          <a:prstGeom prst="rect">
            <a:avLst/>
          </a:prstGeom>
          <a:solidFill>
            <a:srgbClr val="C9A6F0">
              <a:alpha val="9000"/>
            </a:srgbClr>
          </a:solidFill>
          <a:ln w="9525">
            <a:solidFill>
              <a:srgbClr val="C9A6F0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4"/>
          <p:cNvSpPr/>
          <p:nvPr/>
        </p:nvSpPr>
        <p:spPr>
          <a:xfrm>
            <a:off x="5895975" y="6172200"/>
            <a:ext cx="121119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 DEMO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5895975" y="6629400"/>
            <a:ext cx="110642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Agent'ı chatbot arayüzü, web uygulaması, komut satırı ya da sesli asistan olarak canlı gösterebilirsiniz. Verilen görüntülerden en az bir ya da ikisinde gerçekten çalıştığını görmek istiyoruz.</a:t>
            </a:r>
            <a:endParaRPr lang="en-US" sz="20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F93E1807-C7BB-36A1-9EF9-94CE6AB7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5541898" y="9313069"/>
            <a:ext cx="222442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 · 28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1414463"/>
            <a:ext cx="296144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DEĞERLENDİRME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025726" y="1143000"/>
            <a:ext cx="109728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592"/>
              </a:lnSpc>
              <a:buNone/>
            </a:pPr>
            <a:r>
              <a:rPr lang="en-US" sz="4650" b="1" kern="0" spc="-13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Jüri Kriterleri ve Puanlama</a:t>
            </a:r>
            <a:endParaRPr lang="en-US" sz="4650" dirty="0"/>
          </a:p>
        </p:txBody>
      </p:sp>
      <p:sp>
        <p:nvSpPr>
          <p:cNvPr id="10" name="Shape 7"/>
          <p:cNvSpPr/>
          <p:nvPr/>
        </p:nvSpPr>
        <p:spPr>
          <a:xfrm>
            <a:off x="1066800" y="2190750"/>
            <a:ext cx="3752850" cy="1719263"/>
          </a:xfrm>
          <a:prstGeom prst="rect">
            <a:avLst/>
          </a:prstGeom>
          <a:solidFill>
            <a:srgbClr val="FFFFFF">
              <a:alpha val="5000"/>
            </a:srgbClr>
          </a:solidFill>
          <a:ln w="9525">
            <a:solidFill>
              <a:srgbClr val="00D1D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1323975" y="2428875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KRİTER 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23975" y="2852738"/>
            <a:ext cx="35623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94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 Değeri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323975" y="3328988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Problemin önemi ve iş değeri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4914900" y="2926556"/>
            <a:ext cx="190500" cy="247650"/>
          </a:xfrm>
          <a:prstGeom prst="rect">
            <a:avLst/>
          </a:prstGeom>
          <a:solidFill>
            <a:srgbClr val="00D1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5200650" y="2190750"/>
            <a:ext cx="3752850" cy="1719263"/>
          </a:xfrm>
          <a:prstGeom prst="rect">
            <a:avLst/>
          </a:prstGeom>
          <a:solidFill>
            <a:srgbClr val="FFFFFF">
              <a:alpha val="5000"/>
            </a:srgbClr>
          </a:solidFill>
          <a:ln w="9525">
            <a:solidFill>
              <a:srgbClr val="009AFE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5457825" y="2428875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KRİTER 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57825" y="2852738"/>
            <a:ext cx="35623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94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Ürün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5457825" y="3328988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ürün ortaya koyabilme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9048750" y="2926556"/>
            <a:ext cx="190500" cy="247650"/>
          </a:xfrm>
          <a:prstGeom prst="rect">
            <a:avLst/>
          </a:prstGeom>
          <a:solidFill>
            <a:srgbClr val="009AF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9334500" y="2190750"/>
            <a:ext cx="3752850" cy="1719263"/>
          </a:xfrm>
          <a:prstGeom prst="rect">
            <a:avLst/>
          </a:prstGeom>
          <a:solidFill>
            <a:srgbClr val="C9A6F0">
              <a:alpha val="10000"/>
            </a:srgbClr>
          </a:solidFill>
          <a:ln w="9525">
            <a:solidFill>
              <a:srgbClr val="C9A6F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9591675" y="2428875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KRİTER 03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591675" y="2852738"/>
            <a:ext cx="35623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94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 ve UX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9591675" y="3328988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 düşüncesi ve UX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13182600" y="2926556"/>
            <a:ext cx="190500" cy="24765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13468350" y="2190750"/>
            <a:ext cx="3752850" cy="1719263"/>
          </a:xfrm>
          <a:prstGeom prst="rect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3"/>
          <p:cNvSpPr/>
          <p:nvPr/>
        </p:nvSpPr>
        <p:spPr>
          <a:xfrm>
            <a:off x="13725525" y="2428875"/>
            <a:ext cx="35623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KRİTER 04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3725525" y="2852738"/>
            <a:ext cx="35623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94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Sunum ve Demo</a:t>
            </a:r>
            <a:endParaRPr lang="en-US" sz="2250" dirty="0"/>
          </a:p>
        </p:txBody>
      </p:sp>
      <p:sp>
        <p:nvSpPr>
          <p:cNvPr id="28" name="Text 25"/>
          <p:cNvSpPr/>
          <p:nvPr/>
        </p:nvSpPr>
        <p:spPr>
          <a:xfrm>
            <a:off x="13725525" y="3328988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C6C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Sunum ve demo kalitesi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066800" y="4195763"/>
            <a:ext cx="5232350" cy="4224338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7"/>
          <p:cNvSpPr/>
          <p:nvPr/>
        </p:nvSpPr>
        <p:spPr>
          <a:xfrm>
            <a:off x="1343025" y="4433888"/>
            <a:ext cx="51478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 BİLEŞENLERİ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344168" y="4876800"/>
            <a:ext cx="1188720" cy="500063"/>
          </a:xfrm>
          <a:prstGeom prst="rect">
            <a:avLst/>
          </a:prstGeom>
          <a:ln w="9525">
            <a:solidFill>
              <a:srgbClr val="00D1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29"/>
          <p:cNvSpPr/>
          <p:nvPr/>
        </p:nvSpPr>
        <p:spPr>
          <a:xfrm>
            <a:off x="1481328" y="4962525"/>
            <a:ext cx="10058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2651760" y="4876800"/>
            <a:ext cx="1188720" cy="500063"/>
          </a:xfrm>
          <a:prstGeom prst="rect">
            <a:avLst/>
          </a:prstGeom>
          <a:ln w="9525">
            <a:solidFill>
              <a:srgbClr val="00D1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2788920" y="4962525"/>
            <a:ext cx="100584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959352" y="4876800"/>
            <a:ext cx="822960" cy="500063"/>
          </a:xfrm>
          <a:prstGeom prst="rect">
            <a:avLst/>
          </a:prstGeom>
          <a:ln w="9525">
            <a:solidFill>
              <a:srgbClr val="00D1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/>
          <p:nvPr/>
        </p:nvSpPr>
        <p:spPr>
          <a:xfrm>
            <a:off x="4096512" y="4962525"/>
            <a:ext cx="6400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Jüri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527750" y="4195763"/>
            <a:ext cx="5232425" cy="4224338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5"/>
          <p:cNvSpPr/>
          <p:nvPr/>
        </p:nvSpPr>
        <p:spPr>
          <a:xfrm>
            <a:off x="6803975" y="4433888"/>
            <a:ext cx="514797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LEADERBOARD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803975" y="4876800"/>
            <a:ext cx="47548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aşamasının Private Leaderboard skoru final sunum puanınıza doğrudan eklenir.</a:t>
            </a:r>
            <a:endParaRPr lang="en-US" sz="1875" dirty="0"/>
          </a:p>
        </p:txBody>
      </p:sp>
      <p:sp>
        <p:nvSpPr>
          <p:cNvPr id="40" name="Shape 37"/>
          <p:cNvSpPr/>
          <p:nvPr/>
        </p:nvSpPr>
        <p:spPr>
          <a:xfrm>
            <a:off x="11988775" y="4195763"/>
            <a:ext cx="5232350" cy="4224338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8"/>
          <p:cNvSpPr/>
          <p:nvPr/>
        </p:nvSpPr>
        <p:spPr>
          <a:xfrm>
            <a:off x="12265000" y="4433888"/>
            <a:ext cx="514789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PUANI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2265000" y="4876800"/>
            <a:ext cx="47548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İkinci aşamadaki teknik kalite ve mimariniz mentorlar tarafından değerlendirilir.</a:t>
            </a:r>
            <a:endParaRPr lang="en-US" sz="1875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254DC4D2-0A21-5864-CB3F-0701EAE24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60" name="Text 36"/>
          <p:cNvSpPr/>
          <p:nvPr/>
        </p:nvSpPr>
        <p:spPr>
          <a:xfrm>
            <a:off x="1344168" y="5669280"/>
            <a:ext cx="47548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1875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puanı; Kaggle Private Leaderboard skoru, mentor teknik değerlendirmesi ve jüri puanından oluşur.</a:t>
            </a:r>
            <a:endParaRPr lang="en-US" sz="18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7B3DB-FD8C-B399-1468-8FD82DD2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6AC2A5-F2D9-B499-2C29-D4A6DA52EC2A}"/>
              </a:ext>
            </a:extLst>
          </p:cNvPr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DDE9DB-B9BE-45F9-A1FC-D15FBA34A3A2}"/>
              </a:ext>
            </a:extLst>
          </p:cNvPr>
          <p:cNvSpPr/>
          <p:nvPr/>
        </p:nvSpPr>
        <p:spPr>
          <a:xfrm>
            <a:off x="400050" y="383382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CA246C-79DC-37D7-5FFF-765EA602ACFE}"/>
              </a:ext>
            </a:extLst>
          </p:cNvPr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00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9F289BD-8B94-0667-9D8B-32B357C4649A}"/>
              </a:ext>
            </a:extLst>
          </p:cNvPr>
          <p:cNvSpPr/>
          <p:nvPr/>
        </p:nvSpPr>
        <p:spPr>
          <a:xfrm>
            <a:off x="15548744" y="9313069"/>
            <a:ext cx="221689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288" normalizeH="0" baseline="0" noProof="0" dirty="0">
                <a:ln>
                  <a:noFill/>
                </a:ln>
                <a:solidFill>
                  <a:srgbClr val="B9B9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CASE BRIEF · </a:t>
            </a:r>
            <a:r>
              <a:rPr kumimoji="0" lang="tr-TR" sz="1800" b="0" i="0" u="none" strike="noStrike" kern="0" cap="none" spc="288" normalizeH="0" baseline="0" noProof="0" dirty="0">
                <a:ln>
                  <a:noFill/>
                </a:ln>
                <a:solidFill>
                  <a:srgbClr val="B9B9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2EFB7C-1D62-939E-516F-D2658B3D49A3}"/>
              </a:ext>
            </a:extLst>
          </p:cNvPr>
          <p:cNvSpPr/>
          <p:nvPr/>
        </p:nvSpPr>
        <p:spPr>
          <a:xfrm>
            <a:off x="1066800" y="1143000"/>
            <a:ext cx="10435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0" cap="none" spc="390" normalizeH="0" baseline="0" noProof="0" dirty="0">
                <a:ln>
                  <a:noFill/>
                </a:ln>
                <a:solidFill>
                  <a:srgbClr val="00D1D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DEĞERLENDİRME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B72B22-531A-4911-86C2-9007EE8C20D1}"/>
              </a:ext>
            </a:extLst>
          </p:cNvPr>
          <p:cNvSpPr/>
          <p:nvPr/>
        </p:nvSpPr>
        <p:spPr>
          <a:xfrm>
            <a:off x="1026613" y="1543336"/>
            <a:ext cx="14630400" cy="167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5550" b="1" i="0" u="none" strike="noStrike" kern="0" cap="none" spc="-166" normalizeH="0" baseline="0" noProof="0" dirty="0">
                <a:ln>
                  <a:noFill/>
                </a:ln>
                <a:solidFill>
                  <a:srgbClr val="C9A6F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TEKNİK MENTÖRLERİMİZ</a:t>
            </a:r>
            <a:endParaRPr kumimoji="0" lang="en-US" sz="5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539EBC-2FB4-BAD1-66E7-484923F73BDD}"/>
              </a:ext>
            </a:extLst>
          </p:cNvPr>
          <p:cNvSpPr/>
          <p:nvPr/>
        </p:nvSpPr>
        <p:spPr>
          <a:xfrm flipV="1">
            <a:off x="1124856" y="2409185"/>
            <a:ext cx="14112240" cy="45719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00D1D4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6B84CCE4-D548-3EA4-EE6C-6AB68C42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  <p:sp>
        <p:nvSpPr>
          <p:cNvPr id="20" name="Text 11">
            <a:extLst>
              <a:ext uri="{FF2B5EF4-FFF2-40B4-BE49-F238E27FC236}">
                <a16:creationId xmlns:a16="http://schemas.microsoft.com/office/drawing/2014/main" id="{914315B0-9419-4368-8E7D-02355D921028}"/>
              </a:ext>
            </a:extLst>
          </p:cNvPr>
          <p:cNvSpPr/>
          <p:nvPr/>
        </p:nvSpPr>
        <p:spPr>
          <a:xfrm>
            <a:off x="1516743" y="3919959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53333"/>
              </a:lnSpc>
              <a:defRPr/>
            </a:pPr>
            <a:r>
              <a:rPr lang="tr-TR" sz="160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Mehmet Akif Ahrazoğlu</a:t>
            </a:r>
          </a:p>
          <a:p>
            <a:pPr algn="ctr">
              <a:lnSpc>
                <a:spcPct val="153333"/>
              </a:lnSpc>
              <a:defRPr/>
            </a:pPr>
            <a:r>
              <a:rPr lang="tr-TR" sz="160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Birim Yöneticisi</a:t>
            </a:r>
            <a:endParaRPr lang="en-US" sz="1600" i="1" dirty="0">
              <a:solidFill>
                <a:srgbClr val="D6D6DE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92E0992-4A14-4F11-B31B-0E10153DD59C}"/>
              </a:ext>
            </a:extLst>
          </p:cNvPr>
          <p:cNvSpPr/>
          <p:nvPr/>
        </p:nvSpPr>
        <p:spPr>
          <a:xfrm>
            <a:off x="4151086" y="3919959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Barış Çağlar Ayyıldız</a:t>
            </a:r>
          </a:p>
          <a:p>
            <a:pPr algn="ctr">
              <a:lnSpc>
                <a:spcPct val="153333"/>
              </a:lnSpc>
              <a:defRPr/>
            </a:pPr>
            <a:r>
              <a:rPr lang="tr-TR" sz="200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Birim Yöneticisi</a:t>
            </a:r>
            <a:endParaRPr lang="en-US" sz="2000" i="1" dirty="0">
              <a:solidFill>
                <a:srgbClr val="D6D6DE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6CA7F5BB-D074-4FCA-8CCE-04F42DA8472A}"/>
              </a:ext>
            </a:extLst>
          </p:cNvPr>
          <p:cNvSpPr/>
          <p:nvPr/>
        </p:nvSpPr>
        <p:spPr>
          <a:xfrm>
            <a:off x="6734538" y="3919959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Ertan Demiral</a:t>
            </a:r>
            <a:endParaRPr lang="tr-TR" sz="1950" dirty="0">
              <a:solidFill>
                <a:srgbClr val="D6D6DE"/>
              </a:solidFill>
              <a:latin typeface="Arial" pitchFamily="34" charset="0"/>
              <a:cs typeface="Arial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Kıdemli Lider Müh.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042527EF-D373-40E2-B005-D4CA2D18F751}"/>
              </a:ext>
            </a:extLst>
          </p:cNvPr>
          <p:cNvSpPr/>
          <p:nvPr/>
        </p:nvSpPr>
        <p:spPr>
          <a:xfrm>
            <a:off x="1516742" y="5142611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Melih Doğanay Sazak</a:t>
            </a:r>
          </a:p>
          <a:p>
            <a:pPr algn="ctr">
              <a:lnSpc>
                <a:spcPct val="133333"/>
              </a:lnSpc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Lider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DAF3953-4266-4F9D-8EB5-593B09C627DF}"/>
              </a:ext>
            </a:extLst>
          </p:cNvPr>
          <p:cNvSpPr/>
          <p:nvPr/>
        </p:nvSpPr>
        <p:spPr>
          <a:xfrm>
            <a:off x="4151085" y="5165645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Mehmet Can Baytekin</a:t>
            </a:r>
          </a:p>
          <a:p>
            <a:pPr algn="ctr">
              <a:lnSpc>
                <a:spcPct val="133333"/>
              </a:lnSpc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Lider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57DB80F-4BBF-486E-B8E2-49CDC47BAAE1}"/>
              </a:ext>
            </a:extLst>
          </p:cNvPr>
          <p:cNvSpPr/>
          <p:nvPr/>
        </p:nvSpPr>
        <p:spPr>
          <a:xfrm>
            <a:off x="4100194" y="6552464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Muhammed Ali Aşgit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Kıdemli Uzman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E5125D87-F31A-45F2-A259-E26BCBC6013A}"/>
              </a:ext>
            </a:extLst>
          </p:cNvPr>
          <p:cNvSpPr/>
          <p:nvPr/>
        </p:nvSpPr>
        <p:spPr>
          <a:xfrm>
            <a:off x="4049299" y="7832578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Ömer İlbilgi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BFAAFC4-4E9A-41B0-98EE-523F51019286}"/>
              </a:ext>
            </a:extLst>
          </p:cNvPr>
          <p:cNvSpPr/>
          <p:nvPr/>
        </p:nvSpPr>
        <p:spPr>
          <a:xfrm>
            <a:off x="1516741" y="6558465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Mehmet Serkan Tan</a:t>
            </a:r>
          </a:p>
          <a:p>
            <a:pPr algn="ctr">
              <a:lnSpc>
                <a:spcPct val="133333"/>
              </a:lnSpc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Kıdemli Uzman Müh.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7C9ACA31-7CB9-4511-A0C8-99750EBB3FFB}"/>
              </a:ext>
            </a:extLst>
          </p:cNvPr>
          <p:cNvSpPr/>
          <p:nvPr/>
        </p:nvSpPr>
        <p:spPr>
          <a:xfrm>
            <a:off x="1524226" y="7803988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Recep Yerebakan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95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Uzman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0DCE7CCF-59C1-4AEE-B2E8-0E19CEED3FD4}"/>
              </a:ext>
            </a:extLst>
          </p:cNvPr>
          <p:cNvSpPr/>
          <p:nvPr/>
        </p:nvSpPr>
        <p:spPr>
          <a:xfrm>
            <a:off x="6734538" y="5206295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Rıza Can Temizel</a:t>
            </a:r>
          </a:p>
          <a:p>
            <a:pPr algn="ctr">
              <a:lnSpc>
                <a:spcPct val="133333"/>
              </a:lnSpc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Lider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58BDEE30-1AA9-47FB-B21F-9B1A2891EC39}"/>
              </a:ext>
            </a:extLst>
          </p:cNvPr>
          <p:cNvSpPr/>
          <p:nvPr/>
        </p:nvSpPr>
        <p:spPr>
          <a:xfrm>
            <a:off x="6734538" y="6558464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Burak Aktaş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95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Uzman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91EB5CA3-43A9-40D1-86A7-0D96F06F426B}"/>
              </a:ext>
            </a:extLst>
          </p:cNvPr>
          <p:cNvSpPr/>
          <p:nvPr/>
        </p:nvSpPr>
        <p:spPr>
          <a:xfrm>
            <a:off x="6722560" y="7842685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Sare Naz Ersoy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35651B30-6B78-4E60-8E4A-D110551A3875}"/>
              </a:ext>
            </a:extLst>
          </p:cNvPr>
          <p:cNvSpPr/>
          <p:nvPr/>
        </p:nvSpPr>
        <p:spPr>
          <a:xfrm>
            <a:off x="9317990" y="3922681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Mehmet Ali Yılmaz</a:t>
            </a:r>
          </a:p>
          <a:p>
            <a:pPr algn="ctr">
              <a:lnSpc>
                <a:spcPct val="133333"/>
              </a:lnSpc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Kıdemli Lider Müh.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D174AF47-64B4-431E-B458-A5D3B46EA3C3}"/>
              </a:ext>
            </a:extLst>
          </p:cNvPr>
          <p:cNvSpPr/>
          <p:nvPr/>
        </p:nvSpPr>
        <p:spPr>
          <a:xfrm>
            <a:off x="9317990" y="5253288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950" b="0" i="0" u="none" strike="noStrike" kern="1200" cap="none" spc="0" normalizeH="0" baseline="0" noProof="0" dirty="0">
              <a:ln>
                <a:noFill/>
              </a:ln>
              <a:solidFill>
                <a:srgbClr val="D6D6DE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Özlem Demirtaş Altıntaş</a:t>
            </a:r>
          </a:p>
          <a:p>
            <a:pPr algn="ctr">
              <a:lnSpc>
                <a:spcPct val="133333"/>
              </a:lnSpc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Lider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B6DAB8C0-CB95-4DAF-89B2-E8364D7C7667}"/>
              </a:ext>
            </a:extLst>
          </p:cNvPr>
          <p:cNvSpPr/>
          <p:nvPr/>
        </p:nvSpPr>
        <p:spPr>
          <a:xfrm>
            <a:off x="9317989" y="6551764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Onur Oydu</a:t>
            </a:r>
          </a:p>
          <a:p>
            <a:pPr algn="ctr">
              <a:lnSpc>
                <a:spcPct val="133333"/>
              </a:lnSpc>
              <a:defRPr/>
            </a:pPr>
            <a:r>
              <a:rPr lang="tr-TR" sz="195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Uzman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BB005B20-E2BD-40C1-88E8-7871CFBA023A}"/>
              </a:ext>
            </a:extLst>
          </p:cNvPr>
          <p:cNvSpPr/>
          <p:nvPr/>
        </p:nvSpPr>
        <p:spPr>
          <a:xfrm>
            <a:off x="9317988" y="7803987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950" b="0" i="0" u="none" strike="noStrike" kern="1200" cap="none" spc="0" normalizeH="0" baseline="0" noProof="0" dirty="0">
              <a:ln>
                <a:noFill/>
              </a:ln>
              <a:solidFill>
                <a:srgbClr val="D6D6DE"/>
              </a:solidFill>
              <a:effectLst/>
              <a:uLnTx/>
              <a:uFillTx/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Furkan Oruç Emre Erdem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8C65AAD5-AAEE-445F-ABD7-FE05117558DF}"/>
              </a:ext>
            </a:extLst>
          </p:cNvPr>
          <p:cNvSpPr/>
          <p:nvPr/>
        </p:nvSpPr>
        <p:spPr>
          <a:xfrm>
            <a:off x="11952333" y="3907449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ctr">
              <a:lnSpc>
                <a:spcPct val="133333"/>
              </a:lnSpc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Bülent Öktem </a:t>
            </a: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Kıdemli Lider Müh.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FD56FEF6-6FEF-4F31-9DDE-5E6CA5F21341}"/>
              </a:ext>
            </a:extLst>
          </p:cNvPr>
          <p:cNvSpPr/>
          <p:nvPr/>
        </p:nvSpPr>
        <p:spPr>
          <a:xfrm>
            <a:off x="11952333" y="5287665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Şükrü Can Özer</a:t>
            </a:r>
          </a:p>
          <a:p>
            <a:pPr algn="ctr">
              <a:lnSpc>
                <a:spcPct val="133333"/>
              </a:lnSpc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Lider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F074B877-8AE5-48DB-9831-29B4F6AD3C79}"/>
              </a:ext>
            </a:extLst>
          </p:cNvPr>
          <p:cNvSpPr/>
          <p:nvPr/>
        </p:nvSpPr>
        <p:spPr>
          <a:xfrm>
            <a:off x="11952333" y="6551763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Ahmet Cihat Çetindağ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95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Uzman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82493BE9-D740-4F6D-A0CD-AB29CD9B670D}"/>
              </a:ext>
            </a:extLst>
          </p:cNvPr>
          <p:cNvSpPr/>
          <p:nvPr/>
        </p:nvSpPr>
        <p:spPr>
          <a:xfrm>
            <a:off x="11952333" y="7803988"/>
            <a:ext cx="2242457" cy="823491"/>
          </a:xfrm>
          <a:prstGeom prst="rect">
            <a:avLst/>
          </a:prstGeom>
          <a:noFill/>
          <a:ln>
            <a:solidFill>
              <a:srgbClr val="04D0D4"/>
            </a:solidFill>
          </a:ln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Barış Bayramoğlu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D2E5A81-21E7-4D64-BBF0-D7D2F242A1F4}"/>
              </a:ext>
            </a:extLst>
          </p:cNvPr>
          <p:cNvSpPr/>
          <p:nvPr/>
        </p:nvSpPr>
        <p:spPr>
          <a:xfrm>
            <a:off x="14535785" y="3930945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Hüseyin Avni Yaşar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Lider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E77C936B-90CD-405F-9F98-5CFC8D8FD1E4}"/>
              </a:ext>
            </a:extLst>
          </p:cNvPr>
          <p:cNvSpPr/>
          <p:nvPr/>
        </p:nvSpPr>
        <p:spPr>
          <a:xfrm>
            <a:off x="14535785" y="5275917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Uğurcan Çelik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Kıdemli Uzman Müh.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AD3E815F-7912-4C9C-BD82-DB4C25736684}"/>
              </a:ext>
            </a:extLst>
          </p:cNvPr>
          <p:cNvSpPr/>
          <p:nvPr/>
        </p:nvSpPr>
        <p:spPr>
          <a:xfrm>
            <a:off x="14586677" y="6558465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Eray Turan </a:t>
            </a: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95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Uzman 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F68B1B46-4DD2-49EA-B994-DADA8142D11F}"/>
              </a:ext>
            </a:extLst>
          </p:cNvPr>
          <p:cNvSpPr/>
          <p:nvPr/>
        </p:nvSpPr>
        <p:spPr>
          <a:xfrm>
            <a:off x="14586677" y="7801621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950" b="0" i="0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Furkan Yıldız </a:t>
            </a:r>
            <a:r>
              <a:rPr kumimoji="0" lang="tr-TR" sz="1950" b="0" i="1" u="none" strike="noStrike" kern="1200" cap="none" spc="0" normalizeH="0" baseline="0" noProof="0" dirty="0">
                <a:ln>
                  <a:noFill/>
                </a:ln>
                <a:solidFill>
                  <a:srgbClr val="D6D6D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Mühendis</a:t>
            </a: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5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CFE91D8E-8E93-49B1-AE9B-02CF90691A1D}"/>
              </a:ext>
            </a:extLst>
          </p:cNvPr>
          <p:cNvSpPr/>
          <p:nvPr/>
        </p:nvSpPr>
        <p:spPr>
          <a:xfrm>
            <a:off x="5315673" y="2698692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333"/>
              </a:lnSpc>
              <a:buNone/>
            </a:pPr>
            <a:r>
              <a:rPr lang="tr-TR" sz="1950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Bilge Kaan Görür</a:t>
            </a:r>
          </a:p>
          <a:p>
            <a:pPr marL="0" indent="0" algn="ctr">
              <a:lnSpc>
                <a:spcPct val="133333"/>
              </a:lnSpc>
              <a:buNone/>
            </a:pPr>
            <a:r>
              <a:rPr lang="tr-TR" sz="195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Müdür</a:t>
            </a:r>
            <a:endParaRPr lang="en-US" sz="1950" i="1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16C272FB-E804-445D-A0B0-70685FB5AC16}"/>
              </a:ext>
            </a:extLst>
          </p:cNvPr>
          <p:cNvSpPr/>
          <p:nvPr/>
        </p:nvSpPr>
        <p:spPr>
          <a:xfrm>
            <a:off x="8196759" y="2720451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333"/>
              </a:lnSpc>
              <a:buNone/>
            </a:pPr>
            <a:r>
              <a:rPr lang="tr-TR" sz="1950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Seyit Tunç</a:t>
            </a:r>
          </a:p>
          <a:p>
            <a:pPr marL="0" indent="0" algn="ctr">
              <a:lnSpc>
                <a:spcPct val="133333"/>
              </a:lnSpc>
              <a:buNone/>
            </a:pPr>
            <a:r>
              <a:rPr lang="tr-TR" sz="195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Müdür</a:t>
            </a:r>
            <a:endParaRPr lang="en-US" sz="1950" i="1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6B2101AF-B79A-4542-B6C0-6095C4FB3167}"/>
              </a:ext>
            </a:extLst>
          </p:cNvPr>
          <p:cNvSpPr/>
          <p:nvPr/>
        </p:nvSpPr>
        <p:spPr>
          <a:xfrm>
            <a:off x="11077845" y="2684537"/>
            <a:ext cx="2242457" cy="823491"/>
          </a:xfrm>
          <a:prstGeom prst="rect">
            <a:avLst/>
          </a:prstGeom>
          <a:noFill/>
          <a:ln>
            <a:solidFill>
              <a:srgbClr val="C9A6F0"/>
            </a:solidFill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3333"/>
              </a:lnSpc>
              <a:buNone/>
            </a:pPr>
            <a:r>
              <a:rPr lang="tr-TR" sz="1950" dirty="0">
                <a:solidFill>
                  <a:srgbClr val="D6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Serkan Öztürk</a:t>
            </a:r>
          </a:p>
          <a:p>
            <a:pPr marL="0" indent="0" algn="ctr">
              <a:lnSpc>
                <a:spcPct val="133333"/>
              </a:lnSpc>
              <a:buNone/>
            </a:pPr>
            <a:r>
              <a:rPr lang="tr-TR" sz="1950" i="1" dirty="0">
                <a:solidFill>
                  <a:srgbClr val="D6D6DE"/>
                </a:solidFill>
                <a:latin typeface="Arial" pitchFamily="34" charset="0"/>
                <a:cs typeface="Arial" pitchFamily="34" charset="-120"/>
              </a:rPr>
              <a:t>Müdür</a:t>
            </a:r>
            <a:endParaRPr lang="en-US" sz="1950" i="1" dirty="0"/>
          </a:p>
        </p:txBody>
      </p:sp>
    </p:spTree>
    <p:extLst>
      <p:ext uri="{BB962C8B-B14F-4D97-AF65-F5344CB8AC3E}">
        <p14:creationId xmlns:p14="http://schemas.microsoft.com/office/powerpoint/2010/main" val="2174876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526000" cy="8477250"/>
          </a:xfrm>
          <a:prstGeom prst="rect">
            <a:avLst/>
          </a:prstGeom>
          <a:gradFill rotWithShape="1">
            <a:gsLst>
              <a:gs pos="0">
                <a:srgbClr val="00D1D4">
                  <a:alpha val="100000"/>
                </a:srgbClr>
              </a:gs>
              <a:gs pos="100000">
                <a:srgbClr val="2078B4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400050" y="400050"/>
            <a:ext cx="17487900" cy="843915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81000" y="9048750"/>
            <a:ext cx="17526000" cy="857250"/>
          </a:xfrm>
          <a:prstGeom prst="rect">
            <a:avLst/>
          </a:prstGeom>
          <a:ln w="19050">
            <a:solidFill>
              <a:srgbClr val="00D1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9692640" y="9313069"/>
            <a:ext cx="8138160" cy="4024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88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LEVEL-UP AI | ROKETSAN YAPAY ZEKÂ HACKATHONU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1257300"/>
            <a:ext cx="1776984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90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SORULARINIZ İÇİN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66800" y="1847850"/>
            <a:ext cx="1776984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025"/>
              </a:lnSpc>
              <a:buNone/>
            </a:pPr>
            <a:r>
              <a:rPr lang="en-US" sz="10650" b="1" kern="0" spc="-479" dirty="0">
                <a:solidFill>
                  <a:srgbClr val="C9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10650" dirty="0"/>
          </a:p>
        </p:txBody>
      </p:sp>
      <p:sp>
        <p:nvSpPr>
          <p:cNvPr id="9" name="Text 6"/>
          <p:cNvSpPr/>
          <p:nvPr/>
        </p:nvSpPr>
        <p:spPr>
          <a:xfrm>
            <a:off x="1066800" y="3429000"/>
            <a:ext cx="177698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3600" kern="0" spc="-72" dirty="0">
                <a:solidFill>
                  <a:srgbClr val="009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yarışmalar!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1066800" y="7043738"/>
            <a:ext cx="5286375" cy="1338263"/>
          </a:xfrm>
          <a:prstGeom prst="rect">
            <a:avLst/>
          </a:prstGeom>
          <a:solidFill>
            <a:srgbClr val="00D1D4">
              <a:alpha val="6000"/>
            </a:srgbClr>
          </a:solidFill>
          <a:ln w="9525">
            <a:solidFill>
              <a:srgbClr val="00D1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1362075" y="7319963"/>
            <a:ext cx="516540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00D1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TARİH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62075" y="7743825"/>
            <a:ext cx="516540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>
                <a:solidFill>
                  <a:srgbClr val="E8E8EE"/>
                </a:solidFill>
                <a:latin typeface="Arial" pitchFamily="34" charset="0"/>
                <a:cs typeface="Arial" pitchFamily="34" charset="-120"/>
              </a:rPr>
              <a:t>25 Eylül Cuma · 27 Eylül Pazar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6638925" y="7043738"/>
            <a:ext cx="5286375" cy="1338263"/>
          </a:xfrm>
          <a:prstGeom prst="rect">
            <a:avLst/>
          </a:prstGeom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6934200" y="7319963"/>
            <a:ext cx="516540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8C8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34200" y="7743825"/>
            <a:ext cx="516540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81"/>
              </a:lnSpc>
              <a:buNone/>
            </a:pPr>
            <a:r>
              <a:rPr lang="en-US" sz="2025" dirty="0">
                <a:solidFill>
                  <a:srgbClr val="E8E8EE"/>
                </a:solidFill>
                <a:latin typeface="Arial" pitchFamily="34" charset="0"/>
                <a:cs typeface="Arial" pitchFamily="34" charset="-120"/>
              </a:rPr>
              <a:t>Dosyalar yarışma sayfasında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15811500" y="1028700"/>
            <a:ext cx="285750" cy="381000"/>
          </a:xfrm>
          <a:prstGeom prst="rect">
            <a:avLst/>
          </a:prstGeom>
          <a:solidFill>
            <a:srgbClr val="C9A6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16192500" y="1028700"/>
            <a:ext cx="285750" cy="381000"/>
          </a:xfrm>
          <a:prstGeom prst="rect">
            <a:avLst/>
          </a:prstGeom>
          <a:solidFill>
            <a:srgbClr val="C9A6F0">
              <a:alpha val="6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16573500" y="1028700"/>
            <a:ext cx="285750" cy="381000"/>
          </a:xfrm>
          <a:prstGeom prst="rect">
            <a:avLst/>
          </a:prstGeom>
          <a:solidFill>
            <a:srgbClr val="C9A6F0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8D3C37F6-F191-DD00-D02C-61536EED4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9334500"/>
            <a:ext cx="1457324" cy="323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1896</Words>
  <Application>Microsoft Office PowerPoint</Application>
  <PresentationFormat>Custom</PresentationFormat>
  <Paragraphs>357</Paragraphs>
  <Slides>30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Şerife Yılmaz</cp:lastModifiedBy>
  <cp:revision>11</cp:revision>
  <dcterms:created xsi:type="dcterms:W3CDTF">2026-09-18T07:36:58Z</dcterms:created>
  <dcterms:modified xsi:type="dcterms:W3CDTF">2026-09-23T11:58:09Z</dcterms:modified>
</cp:coreProperties>
</file>